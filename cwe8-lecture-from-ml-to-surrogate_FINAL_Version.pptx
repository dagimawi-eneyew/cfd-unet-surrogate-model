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2" r:id="rId11"/>
    <p:sldId id="311" r:id="rId12"/>
    <p:sldId id="265" r:id="rId13"/>
    <p:sldId id="266" r:id="rId14"/>
    <p:sldId id="313" r:id="rId15"/>
    <p:sldId id="267" r:id="rId16"/>
    <p:sldId id="269" r:id="rId17"/>
    <p:sldId id="270" r:id="rId18"/>
    <p:sldId id="271" r:id="rId19"/>
    <p:sldId id="272" r:id="rId20"/>
    <p:sldId id="274" r:id="rId21"/>
    <p:sldId id="275" r:id="rId22"/>
    <p:sldId id="314" r:id="rId23"/>
    <p:sldId id="276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315" r:id="rId39"/>
    <p:sldId id="292" r:id="rId40"/>
    <p:sldId id="293" r:id="rId41"/>
    <p:sldId id="294" r:id="rId42"/>
    <p:sldId id="295" r:id="rId43"/>
    <p:sldId id="297" r:id="rId44"/>
    <p:sldId id="298" r:id="rId45"/>
    <p:sldId id="299" r:id="rId46"/>
    <p:sldId id="300" r:id="rId47"/>
    <p:sldId id="302" r:id="rId48"/>
    <p:sldId id="316" r:id="rId49"/>
    <p:sldId id="304" r:id="rId50"/>
    <p:sldId id="301" r:id="rId51"/>
    <p:sldId id="310" r:id="rId5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5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881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3254-F247-C251-5761-A775A25D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245CD-68F0-B460-3FAF-FDBAF727E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9721C-A004-9386-1B0B-6C7003F34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A246D-1218-CC18-C15F-E2133E4DE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184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rgrosse/courses/csc321_2017/readings/L06%20Backpropagation.pd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59"/>
          <p:cNvSpPr/>
          <p:nvPr/>
        </p:nvSpPr>
        <p:spPr>
          <a:xfrm>
            <a:off x="822960" y="1417320"/>
            <a:ext cx="82296" cy="274320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1097280" y="13716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8TH INTERNATIONAL SYMPOSIUM ON COMPUTATIONAL WIND ENGINEERING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9728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Machine Learning Fundamentals</a:t>
            </a:r>
            <a:endParaRPr lang="en-US" sz="3300" dirty="0"/>
          </a:p>
        </p:txBody>
      </p:sp>
      <p:sp>
        <p:nvSpPr>
          <p:cNvPr id="64" name="Text 62"/>
          <p:cNvSpPr/>
          <p:nvPr/>
        </p:nvSpPr>
        <p:spPr>
          <a:xfrm>
            <a:off x="1097280" y="23957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 Surrogate Modeling</a:t>
            </a:r>
            <a:endParaRPr lang="en-US" sz="3300" dirty="0"/>
          </a:p>
        </p:txBody>
      </p:sp>
      <p:sp>
        <p:nvSpPr>
          <p:cNvPr id="65" name="Text 63"/>
          <p:cNvSpPr/>
          <p:nvPr/>
        </p:nvSpPr>
        <p:spPr>
          <a:xfrm>
            <a:off x="1097280" y="3154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AE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Accelerating Engineering Simulations with Deep Learning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097280" y="3840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foundational concepts to a real engineering application: building a deep-learning surrogate that approximates CFD simulations of natural ventilation and turns hour-long solves into millisecond predictions.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 flipV="1">
            <a:off x="822960" y="5607690"/>
            <a:ext cx="5821680" cy="10370"/>
          </a:xfrm>
          <a:prstGeom prst="line">
            <a:avLst/>
          </a:prstGeom>
          <a:noFill/>
          <a:ln w="1905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8" name="Text 66"/>
          <p:cNvSpPr/>
          <p:nvPr/>
        </p:nvSpPr>
        <p:spPr>
          <a:xfrm>
            <a:off x="816996" y="5767291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8AE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Lecture by:  </a:t>
            </a: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Dagimawi D. Eneyew (PhD)</a:t>
            </a:r>
            <a:endParaRPr lang="en-US" sz="2400" dirty="0"/>
          </a:p>
        </p:txBody>
      </p:sp>
      <p:pic>
        <p:nvPicPr>
          <p:cNvPr id="75" name="Graphic 2">
            <a:extLst>
              <a:ext uri="{FF2B5EF4-FFF2-40B4-BE49-F238E27FC236}">
                <a16:creationId xmlns:a16="http://schemas.microsoft.com/office/drawing/2014/main" id="{02A5F566-A235-4658-A4E2-885AF7C357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996" y="99832"/>
            <a:ext cx="1275632" cy="1180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WORKSHOP ROADMAP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THREE PARTS, ONE GOAL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6028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This Workshop Is Organized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249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Each part builds on the one before it, leading to a complete surrogate modeling workflow.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6260" y="1965960"/>
            <a:ext cx="34290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28408" y="1965960"/>
            <a:ext cx="64008" cy="365760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612648" y="1965960"/>
            <a:ext cx="3364992" cy="914400"/>
          </a:xfrm>
          <a:prstGeom prst="rect">
            <a:avLst/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80467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ML Foundations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2514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essential concepts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3182112"/>
            <a:ext cx="109728" cy="109728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learning means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3749040"/>
            <a:ext cx="109728" cy="109728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097280" y="3675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Neural networks &amp; training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315968"/>
            <a:ext cx="109728" cy="109728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1097280" y="42428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CNNs to U-Net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983480"/>
            <a:ext cx="2880360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822960" y="5056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 the vocabulary and intuition.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96740" y="1965960"/>
            <a:ext cx="34290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368888" y="1965960"/>
            <a:ext cx="64008" cy="365760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4453128" y="1965960"/>
            <a:ext cx="3364992" cy="914400"/>
          </a:xfrm>
          <a:prstGeom prst="rect">
            <a:avLst/>
          </a:prstGeom>
          <a:solidFill>
            <a:srgbClr val="FCEBD4"/>
          </a:solidFill>
          <a:ln w="12700">
            <a:solidFill>
              <a:srgbClr val="FCEB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4645152" y="2221992"/>
            <a:ext cx="566928" cy="566928"/>
          </a:xfrm>
          <a:prstGeom prst="ellipse">
            <a:avLst/>
          </a:prstGeom>
          <a:solidFill>
            <a:srgbClr val="C77F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64515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4924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Surrogate Modeling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2514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idea &amp; the workflow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182112"/>
            <a:ext cx="109728" cy="109728"/>
          </a:xfrm>
          <a:prstGeom prst="ellipse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493776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&amp; why of surrogates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709160" y="3749040"/>
            <a:ext cx="109728" cy="109728"/>
          </a:xfrm>
          <a:prstGeom prst="ellipse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4937760" y="3675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Typical applications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09160" y="4315968"/>
            <a:ext cx="109728" cy="109728"/>
          </a:xfrm>
          <a:prstGeom prst="ellipse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4937760" y="42428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end-to-end workflow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663440" y="4983480"/>
            <a:ext cx="2880360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4663440" y="5056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See the map before we walk it.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37220" y="1965960"/>
            <a:ext cx="34290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>
            <a:off x="8209368" y="1965960"/>
            <a:ext cx="64008" cy="365760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>
            <a:off x="8293608" y="1965960"/>
            <a:ext cx="3364992" cy="914400"/>
          </a:xfrm>
          <a:prstGeom prst="rect">
            <a:avLst/>
          </a:prstGeom>
          <a:solidFill>
            <a:srgbClr val="EDF8DA"/>
          </a:solidFill>
          <a:ln w="12700">
            <a:solidFill>
              <a:srgbClr val="EDF8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8485632" y="2221992"/>
            <a:ext cx="566928" cy="566928"/>
          </a:xfrm>
          <a:prstGeom prst="ellipse">
            <a:avLst/>
          </a:prstGeom>
          <a:solidFill>
            <a:srgbClr val="7BB83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848563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18972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Hands-On Build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89720" y="2514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Follow the workflow live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49640" y="3182112"/>
            <a:ext cx="109728" cy="109728"/>
          </a:xfrm>
          <a:prstGeom prst="ellipse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877824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Preprocess CFD data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549640" y="3749040"/>
            <a:ext cx="109728" cy="109728"/>
          </a:xfrm>
          <a:prstGeom prst="ellipse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8778240" y="3675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 a U-Net surrogate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549640" y="4315968"/>
            <a:ext cx="109728" cy="109728"/>
          </a:xfrm>
          <a:prstGeom prst="ellipse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8778240" y="42428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Evaluate &amp; visualize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503920" y="4983480"/>
            <a:ext cx="2880360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8503920" y="5056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Turn hour-long CFD into milliseconds.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014216" y="3794760"/>
            <a:ext cx="338328" cy="0"/>
          </a:xfrm>
          <a:prstGeom prst="line">
            <a:avLst/>
          </a:prstGeom>
          <a:noFill/>
          <a:ln w="3175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56" name="Shape 54"/>
          <p:cNvSpPr/>
          <p:nvPr/>
        </p:nvSpPr>
        <p:spPr>
          <a:xfrm>
            <a:off x="7854696" y="3794760"/>
            <a:ext cx="338328" cy="0"/>
          </a:xfrm>
          <a:prstGeom prst="line">
            <a:avLst/>
          </a:prstGeom>
          <a:noFill/>
          <a:ln w="3175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57" name="Shape 55"/>
          <p:cNvSpPr/>
          <p:nvPr/>
        </p:nvSpPr>
        <p:spPr>
          <a:xfrm>
            <a:off x="548640" y="589788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548640" y="5897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Everything points to Part 3:  </a:t>
            </a: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by the end you will have built and evaluated a CFD surrogate model.</a:t>
            </a:r>
            <a:endParaRPr lang="en-US" sz="1300" dirty="0"/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4684D4A6-243E-C85B-E20D-E8B07AD588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F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457200"/>
            <a:ext cx="484632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0" b="1" dirty="0">
                <a:solidFill>
                  <a:srgbClr val="3E1D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822960" y="2468880"/>
            <a:ext cx="82296" cy="219456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109728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8346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Machine Learning Foundations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4526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Before we build anything, we need shared intuition. What does it mean for a machine to learn? We start from the simplest idea and build, step by step, up to the kind of network we will use in the workshop.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 ·  3 / 55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Does It Mean to "Learn"?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49240" cy="3108960"/>
          </a:xfrm>
          <a:prstGeom prst="rect">
            <a:avLst/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64008" cy="3108960"/>
          </a:xfrm>
          <a:prstGeom prst="rect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Traditional programming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3957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human writes the rules by hand. (Rule based)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292608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(written by you)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361188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E7E1F0"/>
          </a:solidFill>
          <a:ln w="12700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960120" y="36118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3502152"/>
            <a:ext cx="822960" cy="0"/>
          </a:xfrm>
          <a:prstGeom prst="line">
            <a:avLst/>
          </a:prstGeom>
          <a:noFill/>
          <a:ln w="2794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611880" y="321868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CEBD4"/>
          </a:solidFill>
          <a:ln w="12700">
            <a:solidFill>
              <a:srgbClr val="FCEB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611880" y="3218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Answers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4348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Works when the rules are simple to state. But how do you write the rules for "is this a photo of a cat?"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6263640" y="1828800"/>
            <a:ext cx="64008" cy="310896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537960" y="2011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23957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machine discovers the rules from examples.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292608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E7E1F0"/>
          </a:solidFill>
          <a:ln w="12700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675120" y="2926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361188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EDF8DA"/>
          </a:solidFill>
          <a:ln w="12700">
            <a:solidFill>
              <a:srgbClr val="EDF8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6675120" y="36118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Answers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(examples)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66760" y="3502152"/>
            <a:ext cx="822960" cy="0"/>
          </a:xfrm>
          <a:prstGeom prst="line">
            <a:avLst/>
          </a:prstGeom>
          <a:noFill/>
          <a:ln w="2794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9326880" y="321868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9326880" y="3218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(learned)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44348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Show it thousands of cat and non-cat photos; it figures out the pattern on its own.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7DCFA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big shift:  </a:t>
            </a:r>
            <a:r>
              <a:rPr lang="en-US" sz="14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instead of telling the computer </a:t>
            </a:r>
            <a:r>
              <a:rPr lang="en-US" sz="14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</a:t>
            </a:r>
            <a:r>
              <a:rPr lang="en-US" sz="14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to solve the problem, we give it many examples of the right answer and let it find the pattern itself.</a:t>
            </a:r>
            <a:endParaRPr lang="en-US" sz="1400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57AA8F76-671A-D2AE-ACBA-12BBA06274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700" y="265176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128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Does Deep Learning Fit?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"Machine learning" is one idea inside a bigger family. Knowing the nesting keeps the vocabulary straight before we go deeper.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01168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D6F4FB"/>
          </a:solidFill>
          <a:ln w="19050">
            <a:solidFill>
              <a:srgbClr val="29B6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9B6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2697480"/>
            <a:ext cx="4114800" cy="3063240"/>
          </a:xfrm>
          <a:prstGeom prst="roundRect">
            <a:avLst>
              <a:gd name="adj" fmla="val 3881"/>
            </a:avLst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46304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3429000"/>
            <a:ext cx="2834640" cy="2194560"/>
          </a:xfrm>
          <a:prstGeom prst="roundRect">
            <a:avLst>
              <a:gd name="adj" fmla="val 4167"/>
            </a:avLst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2103120" y="35661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03120" y="4754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7DC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neural networks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E7DC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with many layers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2011680"/>
            <a:ext cx="47548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6858000" y="2011680"/>
            <a:ext cx="64008" cy="1234440"/>
          </a:xfrm>
          <a:prstGeom prst="rect">
            <a:avLst/>
          </a:prstGeom>
          <a:solidFill>
            <a:srgbClr val="29B6D9"/>
          </a:solidFill>
          <a:ln w="12700">
            <a:solidFill>
              <a:srgbClr val="29B6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7086600" y="21579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25420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Term describing machines that mimic human intelligence, such as reasoning, problem solving,… etc.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 be </a:t>
            </a:r>
            <a:r>
              <a:rPr lang="en-US" sz="115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Rule-based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 </a:t>
            </a:r>
            <a:r>
              <a:rPr lang="en-US" sz="115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Learning-based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systems.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3383280"/>
            <a:ext cx="47548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6858000" y="3383280"/>
            <a:ext cx="64008" cy="123444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7086600" y="35295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39136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subset of AI: systems that learn patterns from data </a:t>
            </a:r>
            <a:r>
              <a:rPr lang="en-US" sz="115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(Learning-based)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instead of being hand-coded.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0" y="4754880"/>
            <a:ext cx="47548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6858000" y="4754880"/>
            <a:ext cx="64008" cy="123444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7086600" y="49011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5285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subset of ML using multi-layer neural networks.</a:t>
            </a:r>
            <a:endParaRPr lang="en-US" sz="1150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4DEBA78D-7530-FD39-2DB5-D32DD2FBCC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6651" y="203834"/>
            <a:ext cx="1716404" cy="343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78638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Deep Learning?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Machine learning has existed for decades. Three things made deep learning explode in the last fifteen years — and made surrogate models like ours practical.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64008" cy="210312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874520" y="2240280"/>
            <a:ext cx="914400" cy="914400"/>
          </a:xfrm>
          <a:prstGeom prst="ellipse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87452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▦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152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More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584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Sensors, simulations, and storage made huge labeled datasets available to learn from.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01168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297680" y="2011680"/>
            <a:ext cx="64008" cy="210312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5623560" y="2240280"/>
            <a:ext cx="914400" cy="914400"/>
          </a:xfrm>
          <a:prstGeom prst="ellipse">
            <a:avLst/>
          </a:prstGeom>
          <a:solidFill>
            <a:srgbClr val="FCEBD4"/>
          </a:solidFill>
          <a:ln w="1905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62356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⚙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48056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More compute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26280" y="3584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GPUs made it possible to train networks with millions of parameters in hours, not months.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201168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8046720" y="2011680"/>
            <a:ext cx="64008" cy="210312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9372600" y="2240280"/>
            <a:ext cx="914400" cy="914400"/>
          </a:xfrm>
          <a:prstGeom prst="ellipse">
            <a:avLst/>
          </a:prstGeom>
          <a:solidFill>
            <a:srgbClr val="E7DCFA"/>
          </a:solidFill>
          <a:ln w="1905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37260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◇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22960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Better methods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3584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Activations, optimizers, and architectures (like the CNN) that actually train deep networks well.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" y="4343399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777240" y="4480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it matters for engineering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big strength of deep learning: it </a:t>
            </a:r>
            <a:r>
              <a:rPr lang="en-US" sz="13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learns its own features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directly from raw data.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Older methods needed an expert to hand-design what to measure.</a:t>
            </a:r>
          </a:p>
        </p:txBody>
      </p:sp>
      <p:sp>
        <p:nvSpPr>
          <p:cNvPr id="31" name="Text 29"/>
          <p:cNvSpPr/>
          <p:nvPr/>
        </p:nvSpPr>
        <p:spPr>
          <a:xfrm>
            <a:off x="777240" y="544068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Trade-off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 learning needs </a:t>
            </a:r>
            <a:r>
              <a:rPr lang="en-US" sz="13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more data and compute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than classical methods — worth it when the problem is complex.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B5FAE89D-975D-EE92-1106-92DF92EC5E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1957" y="574155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r>
              <a:rPr lang="en-US" sz="900" b="1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 55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NEURAL NETWORKS SIT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823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Quick Map of ML Methods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Neural networks are not the only way to learn. It helps to know the main families and when each shines.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54864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64008" cy="347472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Classical ML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450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great on smaller, table-shaped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Linear / logistic regression  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simple, interpretable baselines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493008"/>
            <a:ext cx="118872" cy="118872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1097280" y="3429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Decision trees &amp; random forests  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robust, handle mixed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087368"/>
            <a:ext cx="118872" cy="118872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097280" y="4023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Gradient boosting (XGBoost)  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strong on tabular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681728"/>
            <a:ext cx="118872" cy="118872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1097280" y="4617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Support vector machines  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effective in high dimensions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1920240"/>
            <a:ext cx="5349240" cy="3474720"/>
          </a:xfrm>
          <a:prstGeom prst="rect">
            <a:avLst/>
          </a:prstGeom>
          <a:solidFill>
            <a:srgbClr val="E7DCFA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6263640" y="1920240"/>
            <a:ext cx="64008" cy="347472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53796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 learning (neural networks)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37960" y="24505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wins on large, high-dimensional, structured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2898648"/>
            <a:ext cx="118872" cy="118872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812280" y="28346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Images, fields, and grids (like our CFD data)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493008"/>
            <a:ext cx="118872" cy="118872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812280" y="34290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Audio, language, and sequences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4087368"/>
            <a:ext cx="118872" cy="118872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6812280" y="40233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Anything where useful features are hard to hand-design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4681728"/>
            <a:ext cx="118872" cy="118872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6812280" y="46177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Problems with lots of training data available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5778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914400" y="5577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Rule of thumb:  </a:t>
            </a: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tabular data → start classical; images, fields, and other grid-like data → deep learning. Our velocity-field problem is squarely in deep-learning territory.</a:t>
            </a:r>
            <a:endParaRPr lang="en-US" sz="1300" dirty="0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00F374EF-EEA4-F90A-D05B-54EA538D82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700" y="265176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SUPERVISED LEARNING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90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Learning from Labeled Examples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hands-on example in this workshop is a supervised learning problem: we have example inputs paired with the correct outputs, and the model learns to map one to the other.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e.g. a house's size,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location, # of rooms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0" y="205740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02336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25786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function with adjustable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internal settings (parameters)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22860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EDF8DA"/>
          </a:solidFill>
          <a:ln w="12700">
            <a:solidFill>
              <a:srgbClr val="EDF8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914400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e.g. the predicted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selling price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63240" y="2788920"/>
            <a:ext cx="914400" cy="0"/>
          </a:xfrm>
          <a:prstGeom prst="line">
            <a:avLst/>
          </a:prstGeom>
          <a:noFill/>
          <a:ln w="3175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8183880" y="2788920"/>
            <a:ext cx="914400" cy="0"/>
          </a:xfrm>
          <a:prstGeom prst="line">
            <a:avLst/>
          </a:prstGeom>
          <a:noFill/>
          <a:ln w="3175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822960" y="4160520"/>
            <a:ext cx="10515600" cy="1783080"/>
          </a:xfrm>
          <a:prstGeom prst="roundRect">
            <a:avLst>
              <a:gd name="adj" fmla="val 5128"/>
            </a:avLst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109728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it learns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63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model makes a guess.    </a:t>
            </a: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 compare the guess to the known correct answer.    </a:t>
            </a: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 tune the parameters so the next guess is a little closer.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Repeat over many examples, many times, and the model gets good at the mapping. We will unpack each step next.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Terminology:  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example inputs are </a:t>
            </a:r>
            <a:r>
              <a:rPr lang="en-US" sz="12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features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, the correct answers are </a:t>
            </a:r>
            <a:r>
              <a:rPr lang="en-US" sz="12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labels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, and the adjustable settings are </a:t>
            </a:r>
            <a:r>
              <a:rPr lang="en-US" sz="12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parameters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(or weights).</a:t>
            </a:r>
            <a:endParaRPr lang="en-US" sz="1200" dirty="0"/>
          </a:p>
        </p:txBody>
      </p:sp>
      <p:pic>
        <p:nvPicPr>
          <p:cNvPr id="908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TYPES OF MACHINE LEARNING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Supervised Learning Is One of Three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 just saw supervised learning. It helps to know where it sits — and what kind of supervised problem ours 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566160" cy="1828800"/>
          </a:xfrm>
          <a:prstGeom prst="rect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64008" cy="182880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77240" y="2130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25328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 from labeled examples (input → known answer).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our case: geometry → velocity field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0" y="2130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◀ we are here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96596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297680" y="1965960"/>
            <a:ext cx="64008" cy="182880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526280" y="2130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Unsupervised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25328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 structure in data with no labels at all.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2628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clustering, compression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96596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8046720" y="1965960"/>
            <a:ext cx="64008" cy="182880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8275320" y="2130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Reinforcement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75320" y="25328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 by trial and error from rewards.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7532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robotics, game-playing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flavors of supervised learning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5440680" cy="1691640"/>
          </a:xfrm>
          <a:prstGeom prst="rect">
            <a:avLst/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64008" cy="169164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777240" y="467258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34840" y="4672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◀ our task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056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Predict continuous numbers.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5440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temperature, price, or a velocity at every pixel — this is our task.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99632" y="4526280"/>
            <a:ext cx="54406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6199632" y="4526280"/>
            <a:ext cx="64008" cy="1691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428232" y="467258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28232" y="5056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Predict a category / label.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28232" y="5440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cat vs dog, pass vs fail, defect vs no-defect.</a:t>
            </a:r>
            <a:endParaRPr lang="en-US" sz="1150" dirty="0"/>
          </a:p>
        </p:txBody>
      </p:sp>
      <p:pic>
        <p:nvPicPr>
          <p:cNvPr id="909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 Learning for Engineering  ·  Part I: Foundations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FLAVOURS OF SUPERVISED LEARNING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Regression vs Classification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577840" cy="4572000"/>
          </a:xfrm>
          <a:prstGeom prst="rect">
            <a:avLst/>
          </a:prstGeom>
          <a:solidFill>
            <a:srgbClr val="FFFFFF"/>
          </a:solidFill>
          <a:ln w="3175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5577840" cy="50292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Outputs are continuous values.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4754880"/>
            <a:ext cx="4754880" cy="0"/>
          </a:xfrm>
          <a:prstGeom prst="line">
            <a:avLst/>
          </a:prstGeom>
          <a:noFill/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005840" y="2743200"/>
            <a:ext cx="0" cy="2011680"/>
          </a:xfrm>
          <a:prstGeom prst="line">
            <a:avLst/>
          </a:prstGeom>
          <a:noFill/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 flipV="1">
            <a:off x="1216152" y="2971800"/>
            <a:ext cx="4389120" cy="1463040"/>
          </a:xfrm>
          <a:prstGeom prst="line">
            <a:avLst/>
          </a:prstGeom>
          <a:noFill/>
          <a:ln w="25400">
            <a:solidFill>
              <a:srgbClr val="8F55E0"/>
            </a:solidFill>
            <a:prstDash val="dash"/>
          </a:ln>
        </p:spPr>
        <p:txBody>
          <a:bodyPr/>
          <a:lstStyle/>
          <a:p>
            <a:endParaRPr lang="en-CA" dirty="0"/>
          </a:p>
        </p:txBody>
      </p:sp>
      <p:sp>
        <p:nvSpPr>
          <p:cNvPr id="16" name="Shape 14"/>
          <p:cNvSpPr/>
          <p:nvPr/>
        </p:nvSpPr>
        <p:spPr>
          <a:xfrm>
            <a:off x="1078992" y="4462272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1581912" y="4233672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1947672" y="4142232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2404872" y="3959352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2862072" y="3822192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3410712" y="3593592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3867912" y="3456432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4325112" y="3273552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4782312" y="3136392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5148072" y="2999232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100584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  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Velocity ·  temperature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Loss: MSE, MAE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57150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CEBD4"/>
          </a:solidFill>
          <a:ln w="12700">
            <a:solidFill>
              <a:srgbClr val="F0A7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77240" y="5715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SURROGATE MODELS LIVE HERE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16459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6400800" y="1645920"/>
            <a:ext cx="5212080" cy="50292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6400800" y="1645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2940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Outputs are discrete categories.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58000" y="4754880"/>
            <a:ext cx="4389120" cy="0"/>
          </a:xfrm>
          <a:prstGeom prst="line">
            <a:avLst/>
          </a:prstGeom>
          <a:noFill/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6858000" y="2743200"/>
            <a:ext cx="0" cy="2011680"/>
          </a:xfrm>
          <a:prstGeom prst="line">
            <a:avLst/>
          </a:prstGeom>
          <a:noFill/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 flipV="1">
            <a:off x="7040372" y="3035808"/>
            <a:ext cx="3657600" cy="1463040"/>
          </a:xfrm>
          <a:prstGeom prst="line">
            <a:avLst/>
          </a:prstGeom>
          <a:noFill/>
          <a:ln w="19050">
            <a:solidFill>
              <a:srgbClr val="B8AEC4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7150608" y="3035808"/>
            <a:ext cx="146304" cy="146304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>
            <a:off x="7333488" y="3401568"/>
            <a:ext cx="146304" cy="146304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>
            <a:off x="7699248" y="3127248"/>
            <a:ext cx="146304" cy="146304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>
            <a:off x="7882128" y="3493008"/>
            <a:ext cx="146304" cy="146304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8065008" y="2944368"/>
            <a:ext cx="146304" cy="146304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>
            <a:off x="7516368" y="3035808"/>
            <a:ext cx="146304" cy="146304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Shape 43"/>
          <p:cNvSpPr/>
          <p:nvPr/>
        </p:nvSpPr>
        <p:spPr>
          <a:xfrm>
            <a:off x="9518904" y="4123944"/>
            <a:ext cx="164592" cy="164592"/>
          </a:xfrm>
          <a:prstGeom prst="diamond">
            <a:avLst/>
          </a:prstGeom>
          <a:solidFill>
            <a:srgbClr val="F0A757"/>
          </a:solidFill>
          <a:ln w="12700">
            <a:solidFill>
              <a:srgbClr val="F0A7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Shape 44"/>
          <p:cNvSpPr/>
          <p:nvPr/>
        </p:nvSpPr>
        <p:spPr>
          <a:xfrm>
            <a:off x="9884664" y="4306824"/>
            <a:ext cx="164592" cy="164592"/>
          </a:xfrm>
          <a:prstGeom prst="diamond">
            <a:avLst/>
          </a:prstGeom>
          <a:solidFill>
            <a:srgbClr val="F0A757"/>
          </a:solidFill>
          <a:ln w="12700">
            <a:solidFill>
              <a:srgbClr val="F0A7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Shape 45"/>
          <p:cNvSpPr/>
          <p:nvPr/>
        </p:nvSpPr>
        <p:spPr>
          <a:xfrm>
            <a:off x="10158984" y="4032504"/>
            <a:ext cx="164592" cy="164592"/>
          </a:xfrm>
          <a:prstGeom prst="diamond">
            <a:avLst/>
          </a:prstGeom>
          <a:solidFill>
            <a:srgbClr val="F0A757"/>
          </a:solidFill>
          <a:ln w="12700">
            <a:solidFill>
              <a:srgbClr val="F0A7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Shape 46"/>
          <p:cNvSpPr/>
          <p:nvPr/>
        </p:nvSpPr>
        <p:spPr>
          <a:xfrm>
            <a:off x="9244584" y="4306824"/>
            <a:ext cx="164592" cy="164592"/>
          </a:xfrm>
          <a:prstGeom prst="diamond">
            <a:avLst/>
          </a:prstGeom>
          <a:solidFill>
            <a:srgbClr val="F0A757"/>
          </a:solidFill>
          <a:ln w="12700">
            <a:solidFill>
              <a:srgbClr val="F0A7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Shape 47"/>
          <p:cNvSpPr/>
          <p:nvPr/>
        </p:nvSpPr>
        <p:spPr>
          <a:xfrm>
            <a:off x="10341864" y="4398264"/>
            <a:ext cx="164592" cy="164592"/>
          </a:xfrm>
          <a:prstGeom prst="diamond">
            <a:avLst/>
          </a:prstGeom>
          <a:solidFill>
            <a:srgbClr val="F0A757"/>
          </a:solidFill>
          <a:ln w="12700">
            <a:solidFill>
              <a:srgbClr val="F0A7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Shape 48"/>
          <p:cNvSpPr/>
          <p:nvPr/>
        </p:nvSpPr>
        <p:spPr>
          <a:xfrm>
            <a:off x="9701784" y="3849624"/>
            <a:ext cx="164592" cy="164592"/>
          </a:xfrm>
          <a:prstGeom prst="diamond">
            <a:avLst/>
          </a:prstGeom>
          <a:solidFill>
            <a:srgbClr val="F0A757"/>
          </a:solidFill>
          <a:ln w="12700">
            <a:solidFill>
              <a:srgbClr val="F0A7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6858000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  x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2940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Defective vs OK · spam vs not spam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629400" y="5468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5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Loss: cross-entropy</a:t>
            </a:r>
            <a:endParaRPr lang="en-US" sz="1100" dirty="0"/>
          </a:p>
        </p:txBody>
      </p:sp>
      <p:pic>
        <p:nvPicPr>
          <p:cNvPr id="911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TYPES OF MACHINE LEARNING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Features and Labels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760720" cy="4480560"/>
          </a:xfrm>
          <a:prstGeom prst="rect">
            <a:avLst/>
          </a:prstGeom>
          <a:solidFill>
            <a:srgbClr val="F4F0F9"/>
          </a:solidFill>
          <a:ln w="9525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194560"/>
            <a:ext cx="1280160" cy="457200"/>
          </a:xfrm>
          <a:prstGeom prst="rect">
            <a:avLst/>
          </a:prstGeom>
          <a:solidFill>
            <a:srgbClr val="4F268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57400" y="2194560"/>
            <a:ext cx="1280160" cy="457200"/>
          </a:xfrm>
          <a:prstGeom prst="rect">
            <a:avLst/>
          </a:prstGeom>
          <a:solidFill>
            <a:srgbClr val="4F268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205740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7560" y="2194560"/>
            <a:ext cx="1280160" cy="457200"/>
          </a:xfrm>
          <a:prstGeom prst="rect">
            <a:avLst/>
          </a:prstGeom>
          <a:solidFill>
            <a:srgbClr val="4F268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33756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17720" y="2194560"/>
            <a:ext cx="1280160" cy="457200"/>
          </a:xfrm>
          <a:prstGeom prst="rect">
            <a:avLst/>
          </a:prstGeom>
          <a:solidFill>
            <a:srgbClr val="C77F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61772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2651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2651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651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651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294436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777240" y="2944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057400" y="294436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2057400" y="2944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12.4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37560" y="294436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3337560" y="2944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0.21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17720" y="294436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4617720" y="2944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0.412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" y="3291840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777240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1.05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057400" y="3291840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2057400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09.7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37560" y="3291840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3337560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17720" y="3291840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4617720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77240" y="3639312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77724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057400" y="3639312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205740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14.1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337560" y="3639312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333756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0.27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617720" y="3639312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461772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0.388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77240" y="3986784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777240" y="3986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1.21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057400" y="3986784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2057400" y="3986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11.3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337560" y="3986784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3337560" y="3986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0.22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617720" y="3986784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4617720" y="3986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0.553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77240" y="4334256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777240" y="43342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057400" y="4334256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2057400" y="43342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13.8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3337560" y="4334256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3337560" y="43342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0.19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617720" y="4334256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4617720" y="43342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0.371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777240" y="4681728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777240" y="4681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⋮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2057400" y="4681728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6" name="Text 64"/>
          <p:cNvSpPr/>
          <p:nvPr/>
        </p:nvSpPr>
        <p:spPr>
          <a:xfrm>
            <a:off x="2057400" y="4681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⋮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337560" y="4681728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8" name="Text 66"/>
          <p:cNvSpPr/>
          <p:nvPr/>
        </p:nvSpPr>
        <p:spPr>
          <a:xfrm>
            <a:off x="3337560" y="4681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⋮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617720" y="4681728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0" name="Text 68"/>
          <p:cNvSpPr/>
          <p:nvPr/>
        </p:nvSpPr>
        <p:spPr>
          <a:xfrm>
            <a:off x="4617720" y="4681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⋮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766560" y="1645920"/>
            <a:ext cx="4937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2" name="Shape 70"/>
          <p:cNvSpPr/>
          <p:nvPr/>
        </p:nvSpPr>
        <p:spPr>
          <a:xfrm>
            <a:off x="6766560" y="1645920"/>
            <a:ext cx="64008" cy="141732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3" name="Text 71"/>
          <p:cNvSpPr/>
          <p:nvPr/>
        </p:nvSpPr>
        <p:spPr>
          <a:xfrm>
            <a:off x="6995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Features (x)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6995160" y="21945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Measured quantities describing the input — geometry, fluid properties, boundary values. Often pre-processed into clean numeric vectors.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766560" y="3154680"/>
            <a:ext cx="4937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6" name="Shape 74"/>
          <p:cNvSpPr/>
          <p:nvPr/>
        </p:nvSpPr>
        <p:spPr>
          <a:xfrm>
            <a:off x="6766560" y="3154680"/>
            <a:ext cx="64008" cy="141732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7" name="Text 75"/>
          <p:cNvSpPr/>
          <p:nvPr/>
        </p:nvSpPr>
        <p:spPr>
          <a:xfrm>
            <a:off x="69951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Labels (y)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6995160" y="3703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target the model must reproduce — drag coefficient, peak stress, a full field. Comes from simulation or experiment.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766560" y="4663440"/>
            <a:ext cx="4937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0" name="Shape 78"/>
          <p:cNvSpPr/>
          <p:nvPr/>
        </p:nvSpPr>
        <p:spPr>
          <a:xfrm>
            <a:off x="6766560" y="4663440"/>
            <a:ext cx="64008" cy="1417320"/>
          </a:xfrm>
          <a:prstGeom prst="rect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1" name="Text 79"/>
          <p:cNvSpPr/>
          <p:nvPr/>
        </p:nvSpPr>
        <p:spPr>
          <a:xfrm>
            <a:off x="69951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Dataset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6995160" y="5212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collection of (x, y) pairs assumed to be drawn from the same underlying physical relationship the model is trying to learn.</a:t>
            </a:r>
            <a:endParaRPr lang="en-US" sz="1200" dirty="0"/>
          </a:p>
        </p:txBody>
      </p:sp>
      <p:sp>
        <p:nvSpPr>
          <p:cNvPr id="83" name="Text 3">
            <a:extLst>
              <a:ext uri="{FF2B5EF4-FFF2-40B4-BE49-F238E27FC236}">
                <a16:creationId xmlns:a16="http://schemas.microsoft.com/office/drawing/2014/main" id="{C510A039-2BD2-BCE7-836E-2D806C5147FF}"/>
              </a:ext>
            </a:extLst>
          </p:cNvPr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pic>
        <p:nvPicPr>
          <p:cNvPr id="910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MODEL WE WILL USE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Is a Neural Network?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6400800" cy="4206240"/>
          </a:xfrm>
          <a:prstGeom prst="rect">
            <a:avLst/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10" name="Shape 8"/>
          <p:cNvSpPr/>
          <p:nvPr/>
        </p:nvSpPr>
        <p:spPr>
          <a:xfrm flipV="1">
            <a:off x="1554480" y="2903220"/>
            <a:ext cx="1645920" cy="3429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554480" y="3246120"/>
            <a:ext cx="1645920" cy="3429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554480" y="3246120"/>
            <a:ext cx="1645920" cy="10287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554480" y="3246120"/>
            <a:ext cx="1645920" cy="17145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 flipV="1">
            <a:off x="1554480" y="2903220"/>
            <a:ext cx="1645920" cy="10287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 flipV="1">
            <a:off x="1554480" y="3589020"/>
            <a:ext cx="1645920" cy="3429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1554480" y="3931920"/>
            <a:ext cx="1645920" cy="3429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1554480" y="3931920"/>
            <a:ext cx="1645920" cy="10287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 flipV="1">
            <a:off x="1554480" y="2903220"/>
            <a:ext cx="1645920" cy="17145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 flipV="1">
            <a:off x="1554480" y="3589020"/>
            <a:ext cx="1645920" cy="10287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 flipV="1">
            <a:off x="1554480" y="4274820"/>
            <a:ext cx="1645920" cy="3429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1554480" y="4617720"/>
            <a:ext cx="1645920" cy="3429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3200400" y="2903220"/>
            <a:ext cx="1645920" cy="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3200400" y="2903220"/>
            <a:ext cx="1645920" cy="6858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3200400" y="2903220"/>
            <a:ext cx="1645920" cy="13716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3200400" y="2903220"/>
            <a:ext cx="1645920" cy="20574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 flipV="1">
            <a:off x="3200400" y="2903220"/>
            <a:ext cx="1645920" cy="6858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3200400" y="3589020"/>
            <a:ext cx="1645920" cy="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3200400" y="3589020"/>
            <a:ext cx="1645920" cy="6858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3200400" y="3589020"/>
            <a:ext cx="1645920" cy="13716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 flipV="1">
            <a:off x="3200400" y="2903220"/>
            <a:ext cx="1645920" cy="13716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 flipV="1">
            <a:off x="3200400" y="3589020"/>
            <a:ext cx="1645920" cy="6858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3200400" y="4274820"/>
            <a:ext cx="1645920" cy="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3200400" y="4274820"/>
            <a:ext cx="1645920" cy="6858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 flipV="1">
            <a:off x="3200400" y="2903220"/>
            <a:ext cx="1645920" cy="20574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 flipV="1">
            <a:off x="3200400" y="3589020"/>
            <a:ext cx="1645920" cy="13716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 flipV="1">
            <a:off x="3200400" y="4274820"/>
            <a:ext cx="1645920" cy="6858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3200400" y="4960620"/>
            <a:ext cx="1645920" cy="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4846320" y="2903220"/>
            <a:ext cx="1280160" cy="6858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4846320" y="2903220"/>
            <a:ext cx="1280160" cy="13716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>
            <a:off x="4846320" y="3589020"/>
            <a:ext cx="1280160" cy="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>
            <a:off x="4846320" y="3589020"/>
            <a:ext cx="1280160" cy="6858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 flipV="1">
            <a:off x="4846320" y="3589020"/>
            <a:ext cx="1280160" cy="6858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4846320" y="4274820"/>
            <a:ext cx="1280160" cy="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 flipV="1">
            <a:off x="4846320" y="3589020"/>
            <a:ext cx="1280160" cy="13716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Shape 43"/>
          <p:cNvSpPr/>
          <p:nvPr/>
        </p:nvSpPr>
        <p:spPr>
          <a:xfrm flipV="1">
            <a:off x="4846320" y="4274820"/>
            <a:ext cx="1280160" cy="685800"/>
          </a:xfrm>
          <a:prstGeom prst="line">
            <a:avLst/>
          </a:prstGeom>
          <a:noFill/>
          <a:ln w="63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Shape 44"/>
          <p:cNvSpPr/>
          <p:nvPr/>
        </p:nvSpPr>
        <p:spPr>
          <a:xfrm>
            <a:off x="1399032" y="3090672"/>
            <a:ext cx="310896" cy="310896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Shape 45"/>
          <p:cNvSpPr/>
          <p:nvPr/>
        </p:nvSpPr>
        <p:spPr>
          <a:xfrm>
            <a:off x="1399032" y="3776472"/>
            <a:ext cx="310896" cy="310896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Shape 46"/>
          <p:cNvSpPr/>
          <p:nvPr/>
        </p:nvSpPr>
        <p:spPr>
          <a:xfrm>
            <a:off x="1399032" y="4462272"/>
            <a:ext cx="310896" cy="310896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Shape 47"/>
          <p:cNvSpPr/>
          <p:nvPr/>
        </p:nvSpPr>
        <p:spPr>
          <a:xfrm>
            <a:off x="3044952" y="2747772"/>
            <a:ext cx="310896" cy="310896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Shape 48"/>
          <p:cNvSpPr/>
          <p:nvPr/>
        </p:nvSpPr>
        <p:spPr>
          <a:xfrm>
            <a:off x="3044952" y="3433572"/>
            <a:ext cx="310896" cy="310896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Shape 49"/>
          <p:cNvSpPr/>
          <p:nvPr/>
        </p:nvSpPr>
        <p:spPr>
          <a:xfrm>
            <a:off x="3044952" y="4119372"/>
            <a:ext cx="310896" cy="310896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Shape 50"/>
          <p:cNvSpPr/>
          <p:nvPr/>
        </p:nvSpPr>
        <p:spPr>
          <a:xfrm>
            <a:off x="3044952" y="4805172"/>
            <a:ext cx="310896" cy="310896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Shape 51"/>
          <p:cNvSpPr/>
          <p:nvPr/>
        </p:nvSpPr>
        <p:spPr>
          <a:xfrm>
            <a:off x="4690872" y="2747772"/>
            <a:ext cx="310896" cy="310896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Shape 52"/>
          <p:cNvSpPr/>
          <p:nvPr/>
        </p:nvSpPr>
        <p:spPr>
          <a:xfrm>
            <a:off x="4690872" y="3433572"/>
            <a:ext cx="310896" cy="310896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Shape 53"/>
          <p:cNvSpPr/>
          <p:nvPr/>
        </p:nvSpPr>
        <p:spPr>
          <a:xfrm>
            <a:off x="4690872" y="4119372"/>
            <a:ext cx="310896" cy="310896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Shape 54"/>
          <p:cNvSpPr/>
          <p:nvPr/>
        </p:nvSpPr>
        <p:spPr>
          <a:xfrm>
            <a:off x="4690872" y="4805172"/>
            <a:ext cx="310896" cy="310896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Shape 55"/>
          <p:cNvSpPr/>
          <p:nvPr/>
        </p:nvSpPr>
        <p:spPr>
          <a:xfrm>
            <a:off x="5971032" y="3433572"/>
            <a:ext cx="310896" cy="310896"/>
          </a:xfrm>
          <a:prstGeom prst="ellipse">
            <a:avLst/>
          </a:prstGeom>
          <a:solidFill>
            <a:srgbClr val="7BB83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Shape 56"/>
          <p:cNvSpPr/>
          <p:nvPr/>
        </p:nvSpPr>
        <p:spPr>
          <a:xfrm>
            <a:off x="5971032" y="4119372"/>
            <a:ext cx="310896" cy="310896"/>
          </a:xfrm>
          <a:prstGeom prst="ellipse">
            <a:avLst/>
          </a:prstGeom>
          <a:solidFill>
            <a:srgbClr val="7BB83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9" name="Text 57"/>
          <p:cNvSpPr/>
          <p:nvPr/>
        </p:nvSpPr>
        <p:spPr>
          <a:xfrm>
            <a:off x="91440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Layer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56032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Hidden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Layer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20624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Hidden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Layer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48640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Layer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4864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information flows left → right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223760" y="1783080"/>
            <a:ext cx="4389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5" name="Shape 63"/>
          <p:cNvSpPr/>
          <p:nvPr/>
        </p:nvSpPr>
        <p:spPr>
          <a:xfrm>
            <a:off x="7223760" y="1783080"/>
            <a:ext cx="64008" cy="128016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6" name="Shape 64"/>
          <p:cNvSpPr/>
          <p:nvPr/>
        </p:nvSpPr>
        <p:spPr>
          <a:xfrm>
            <a:off x="7424928" y="1984248"/>
            <a:ext cx="457200" cy="457200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7" name="Text 65"/>
          <p:cNvSpPr/>
          <p:nvPr/>
        </p:nvSpPr>
        <p:spPr>
          <a:xfrm>
            <a:off x="742492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001000" y="1947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Neurons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8001000" y="23134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Each circle holds a number. It is a tiny unit that takes inputs, combines them, and passes a value on.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223760" y="3200400"/>
            <a:ext cx="4389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1" name="Shape 69"/>
          <p:cNvSpPr/>
          <p:nvPr/>
        </p:nvSpPr>
        <p:spPr>
          <a:xfrm>
            <a:off x="7223760" y="3200400"/>
            <a:ext cx="64008" cy="128016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2" name="Shape 70"/>
          <p:cNvSpPr/>
          <p:nvPr/>
        </p:nvSpPr>
        <p:spPr>
          <a:xfrm>
            <a:off x="7424928" y="3401568"/>
            <a:ext cx="457200" cy="457200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3" name="Text 71"/>
          <p:cNvSpPr/>
          <p:nvPr/>
        </p:nvSpPr>
        <p:spPr>
          <a:xfrm>
            <a:off x="742492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001000" y="3364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Weights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8001000" y="3730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Each connection has a weight that strengthens or weakens the signal. These are the parameters the model learns.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223760" y="4617720"/>
            <a:ext cx="4389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7" name="Shape 75"/>
          <p:cNvSpPr/>
          <p:nvPr/>
        </p:nvSpPr>
        <p:spPr>
          <a:xfrm>
            <a:off x="7223760" y="4617720"/>
            <a:ext cx="64008" cy="128016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8" name="Shape 76"/>
          <p:cNvSpPr/>
          <p:nvPr/>
        </p:nvSpPr>
        <p:spPr>
          <a:xfrm>
            <a:off x="7424928" y="4818888"/>
            <a:ext cx="457200" cy="457200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9" name="Text 77"/>
          <p:cNvSpPr/>
          <p:nvPr/>
        </p:nvSpPr>
        <p:spPr>
          <a:xfrm>
            <a:off x="742492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8001000" y="4782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Layers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8001000" y="51480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Stacking layers lets the network combine simple patterns into more complex ones, step by step.</a:t>
            </a:r>
            <a:endParaRPr lang="en-US" sz="1100" dirty="0"/>
          </a:p>
        </p:txBody>
      </p:sp>
      <p:sp>
        <p:nvSpPr>
          <p:cNvPr id="82" name="Shape 12">
            <a:extLst>
              <a:ext uri="{FF2B5EF4-FFF2-40B4-BE49-F238E27FC236}">
                <a16:creationId xmlns:a16="http://schemas.microsoft.com/office/drawing/2014/main" id="{BC1DA2A2-2C66-A14C-14E3-8DA81021FDE7}"/>
              </a:ext>
            </a:extLst>
          </p:cNvPr>
          <p:cNvSpPr/>
          <p:nvPr/>
        </p:nvSpPr>
        <p:spPr>
          <a:xfrm rot="16200000">
            <a:off x="186690" y="3733799"/>
            <a:ext cx="2749297" cy="457199"/>
          </a:xfrm>
          <a:prstGeom prst="roundRect">
            <a:avLst>
              <a:gd name="adj" fmla="val 9412"/>
            </a:avLst>
          </a:prstGeom>
          <a:noFill/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3" name="Shape 12">
            <a:extLst>
              <a:ext uri="{FF2B5EF4-FFF2-40B4-BE49-F238E27FC236}">
                <a16:creationId xmlns:a16="http://schemas.microsoft.com/office/drawing/2014/main" id="{086A9084-64C5-A559-F3B5-F0B8A79E820A}"/>
              </a:ext>
            </a:extLst>
          </p:cNvPr>
          <p:cNvSpPr/>
          <p:nvPr/>
        </p:nvSpPr>
        <p:spPr>
          <a:xfrm rot="16200000">
            <a:off x="1824989" y="3733800"/>
            <a:ext cx="2749297" cy="457200"/>
          </a:xfrm>
          <a:prstGeom prst="roundRect">
            <a:avLst>
              <a:gd name="adj" fmla="val 9412"/>
            </a:avLst>
          </a:prstGeom>
          <a:noFill/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D10C4B58-04DE-87DC-348D-FD48CE15FF7C}"/>
              </a:ext>
            </a:extLst>
          </p:cNvPr>
          <p:cNvSpPr/>
          <p:nvPr/>
        </p:nvSpPr>
        <p:spPr>
          <a:xfrm rot="16200000">
            <a:off x="3475482" y="3777996"/>
            <a:ext cx="2749297" cy="457200"/>
          </a:xfrm>
          <a:prstGeom prst="roundRect">
            <a:avLst>
              <a:gd name="adj" fmla="val 9412"/>
            </a:avLst>
          </a:prstGeom>
          <a:noFill/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5" name="Shape 12">
            <a:extLst>
              <a:ext uri="{FF2B5EF4-FFF2-40B4-BE49-F238E27FC236}">
                <a16:creationId xmlns:a16="http://schemas.microsoft.com/office/drawing/2014/main" id="{29C48F76-0F8F-F32D-003A-B32282401BFB}"/>
              </a:ext>
            </a:extLst>
          </p:cNvPr>
          <p:cNvSpPr/>
          <p:nvPr/>
        </p:nvSpPr>
        <p:spPr>
          <a:xfrm rot="16200000">
            <a:off x="4754117" y="3777995"/>
            <a:ext cx="2749297" cy="457200"/>
          </a:xfrm>
          <a:prstGeom prst="roundRect">
            <a:avLst>
              <a:gd name="adj" fmla="val 9412"/>
            </a:avLst>
          </a:prstGeom>
          <a:noFill/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6" name="Text 59">
            <a:extLst>
              <a:ext uri="{FF2B5EF4-FFF2-40B4-BE49-F238E27FC236}">
                <a16:creationId xmlns:a16="http://schemas.microsoft.com/office/drawing/2014/main" id="{3E5CA589-4FC7-03EE-658A-2B4925FD51EF}"/>
              </a:ext>
            </a:extLst>
          </p:cNvPr>
          <p:cNvSpPr/>
          <p:nvPr/>
        </p:nvSpPr>
        <p:spPr>
          <a:xfrm>
            <a:off x="914400" y="2203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912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  <p:sp>
        <p:nvSpPr>
          <p:cNvPr id="896" name="TextBox 895">
            <a:extLst>
              <a:ext uri="{FF2B5EF4-FFF2-40B4-BE49-F238E27FC236}">
                <a16:creationId xmlns:a16="http://schemas.microsoft.com/office/drawing/2014/main" id="{0CF1D284-7C45-1F34-0AD1-EF1B28AC919B}"/>
              </a:ext>
            </a:extLst>
          </p:cNvPr>
          <p:cNvSpPr txBox="1"/>
          <p:nvPr/>
        </p:nvSpPr>
        <p:spPr>
          <a:xfrm>
            <a:off x="3585427" y="2641612"/>
            <a:ext cx="8661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weight</a:t>
            </a:r>
            <a:endParaRPr lang="en-US" sz="1050" dirty="0"/>
          </a:p>
        </p:txBody>
      </p:sp>
      <p:sp>
        <p:nvSpPr>
          <p:cNvPr id="897" name="TextBox 896">
            <a:extLst>
              <a:ext uri="{FF2B5EF4-FFF2-40B4-BE49-F238E27FC236}">
                <a16:creationId xmlns:a16="http://schemas.microsoft.com/office/drawing/2014/main" id="{4B43CDAE-1A57-FD19-2BFE-7815F7A34D9F}"/>
              </a:ext>
            </a:extLst>
          </p:cNvPr>
          <p:cNvSpPr txBox="1"/>
          <p:nvPr/>
        </p:nvSpPr>
        <p:spPr>
          <a:xfrm>
            <a:off x="1276864" y="2888862"/>
            <a:ext cx="8661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 err="1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Neurn</a:t>
            </a: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ZOOMING INTO A SINGLE CIRCLE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5191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Inside One Neuron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Each circle in that diagram does the same tiny computation: weigh its inputs, add them up, and pass the result through a simple function.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2514600"/>
            <a:ext cx="457200" cy="457200"/>
          </a:xfrm>
          <a:prstGeom prst="ellipse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1887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2596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2743200"/>
            <a:ext cx="2240280" cy="1188720"/>
          </a:xfrm>
          <a:prstGeom prst="line">
            <a:avLst/>
          </a:prstGeom>
          <a:noFill/>
          <a:ln w="1651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188720" y="3703320"/>
            <a:ext cx="457200" cy="457200"/>
          </a:xfrm>
          <a:prstGeom prst="ellipse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3931920"/>
            <a:ext cx="2240280" cy="0"/>
          </a:xfrm>
          <a:prstGeom prst="line">
            <a:avLst/>
          </a:prstGeom>
          <a:noFill/>
          <a:ln w="1651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1188720" y="4892040"/>
            <a:ext cx="457200" cy="457200"/>
          </a:xfrm>
          <a:prstGeom prst="ellipse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1887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x₃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65960" y="4261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V="1">
            <a:off x="1645920" y="3931920"/>
            <a:ext cx="2240280" cy="1188720"/>
          </a:xfrm>
          <a:prstGeom prst="line">
            <a:avLst/>
          </a:prstGeom>
          <a:noFill/>
          <a:ln w="1651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3886200" y="3520440"/>
            <a:ext cx="822960" cy="822960"/>
          </a:xfrm>
          <a:prstGeom prst="ellipse">
            <a:avLst/>
          </a:prstGeom>
          <a:solidFill>
            <a:srgbClr val="4F2683"/>
          </a:solidFill>
          <a:ln w="254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388620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Σ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069080" y="1920240"/>
            <a:ext cx="457200" cy="457200"/>
          </a:xfrm>
          <a:prstGeom prst="ellipse">
            <a:avLst/>
          </a:prstGeom>
          <a:solidFill>
            <a:srgbClr val="FCEBD4"/>
          </a:solidFill>
          <a:ln w="1905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4069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0" y="2377440"/>
            <a:ext cx="0" cy="1143000"/>
          </a:xfrm>
          <a:prstGeom prst="line">
            <a:avLst/>
          </a:prstGeom>
          <a:noFill/>
          <a:ln w="1651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4709160" y="3931920"/>
            <a:ext cx="960120" cy="0"/>
          </a:xfrm>
          <a:prstGeom prst="line">
            <a:avLst/>
          </a:prstGeom>
          <a:noFill/>
          <a:ln w="2794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5669280" y="34747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8F55E0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5669280" y="3474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σ ( · 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69280" y="4434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activation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0" y="3931920"/>
            <a:ext cx="640080" cy="0"/>
          </a:xfrm>
          <a:prstGeom prst="line">
            <a:avLst/>
          </a:prstGeom>
          <a:noFill/>
          <a:ln w="2794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7772400" y="3657600"/>
            <a:ext cx="548640" cy="548640"/>
          </a:xfrm>
          <a:prstGeom prst="ellipse">
            <a:avLst/>
          </a:prstGeom>
          <a:solidFill>
            <a:srgbClr val="F0A757"/>
          </a:solidFill>
          <a:ln w="1905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77724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86800" y="2194560"/>
            <a:ext cx="2926080" cy="3566160"/>
          </a:xfrm>
          <a:prstGeom prst="rect">
            <a:avLst/>
          </a:prstGeom>
          <a:solidFill>
            <a:srgbClr val="4F2683"/>
          </a:solidFill>
          <a:ln w="9525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886968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NEURON EQUATION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86968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σ ( Σ wᵢ xᵢ + b )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869680" y="3383280"/>
            <a:ext cx="2560320" cy="0"/>
          </a:xfrm>
          <a:prstGeom prst="line">
            <a:avLst/>
          </a:prstGeom>
          <a:noFill/>
          <a:ln w="9525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8869680" y="35661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5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xᵢ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464040" y="35661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69680" y="39867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wᵢ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464040" y="39867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weights (learned)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69680" y="4407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464040" y="44074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bias (learned)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869680" y="48280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5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464040" y="48280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activation function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69680" y="52486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464040" y="524865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weighted sum plus a nonlinearity. Stack thousands of these and you have a neural network.</a:t>
            </a:r>
            <a:endParaRPr lang="en-US" sz="1300" dirty="0"/>
          </a:p>
        </p:txBody>
      </p:sp>
      <p:pic>
        <p:nvPicPr>
          <p:cNvPr id="913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NON-LINEARITY THAT MAKES IT ALL 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Activations Matter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5486400" cy="50292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WITHOUT ACTIVATIONS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Stacking many linear layers…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27889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86868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1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W₁ x + b₁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3063240"/>
            <a:ext cx="137160" cy="0"/>
          </a:xfrm>
          <a:prstGeom prst="line">
            <a:avLst/>
          </a:prstGeom>
          <a:noFill/>
          <a:ln w="19050">
            <a:solidFill>
              <a:srgbClr val="C2185B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2560320" y="27889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256032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1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W₂ (·) + b₂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3063240"/>
            <a:ext cx="137160" cy="0"/>
          </a:xfrm>
          <a:prstGeom prst="line">
            <a:avLst/>
          </a:prstGeom>
          <a:noFill/>
          <a:ln w="19050">
            <a:solidFill>
              <a:srgbClr val="C2185B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251960" y="27889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25196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1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W₃ (·) + b₃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…collapses to a single linear map.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645920" y="3977640"/>
            <a:ext cx="32918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164592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≡   W★ x + b★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 matter how deep, the network can only model straight-line relationships.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5715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 world engineering problems are mostly nonlinear.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1691640"/>
            <a:ext cx="5486400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6172200" y="1691640"/>
            <a:ext cx="5486400" cy="50292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6172200" y="1691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WITH ACTIVATIONS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Inserting a nonlinear σ between layers…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27889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649224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BB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σ(W₁x + b₁)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3063240"/>
            <a:ext cx="137160" cy="0"/>
          </a:xfrm>
          <a:prstGeom prst="line">
            <a:avLst/>
          </a:prstGeom>
          <a:noFill/>
          <a:ln w="1905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8183880" y="27889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818388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BB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σ(W₂(·)+b₂)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738360" y="3063240"/>
            <a:ext cx="137160" cy="0"/>
          </a:xfrm>
          <a:prstGeom prst="line">
            <a:avLst/>
          </a:prstGeom>
          <a:noFill/>
          <a:ln w="1905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>
            <a:off x="9875520" y="27889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987552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BB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σ(W₃(·)+b₃)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…unlocks composition.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269480" y="3977640"/>
            <a:ext cx="32918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726948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B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highly nonlinear f(x)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0" y="4937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network can now approximate arbitrarily complex relationships.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400800" y="5715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Universal approximation theorem.</a:t>
            </a:r>
            <a:endParaRPr lang="en-US" sz="1200" dirty="0"/>
          </a:p>
        </p:txBody>
      </p:sp>
      <p:pic>
        <p:nvPicPr>
          <p:cNvPr id="914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ACTIVATION FUNCTIONS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13783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Common Activation Functions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78815" y="149584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That σ is the activation. Without it, stacking layers would just give one big linear formula — the nonlinearity is what lets networks learn complex patterns.</a:t>
            </a:r>
            <a:endParaRPr lang="en-US" sz="1300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498CCA7-8C0E-5B40-FDAC-359647BDCB1D}"/>
              </a:ext>
            </a:extLst>
          </p:cNvPr>
          <p:cNvGrpSpPr/>
          <p:nvPr/>
        </p:nvGrpSpPr>
        <p:grpSpPr>
          <a:xfrm>
            <a:off x="1290320" y="2133600"/>
            <a:ext cx="3573780" cy="3566160"/>
            <a:chOff x="2217420" y="2133600"/>
            <a:chExt cx="3573780" cy="3566160"/>
          </a:xfrm>
        </p:grpSpPr>
        <p:sp>
          <p:nvSpPr>
            <p:cNvPr id="10" name="Shape 8"/>
            <p:cNvSpPr/>
            <p:nvPr/>
          </p:nvSpPr>
          <p:spPr>
            <a:xfrm>
              <a:off x="2256028" y="2133600"/>
              <a:ext cx="3535172" cy="356616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Shape 9"/>
            <p:cNvSpPr/>
            <p:nvPr/>
          </p:nvSpPr>
          <p:spPr>
            <a:xfrm>
              <a:off x="2281428" y="2148840"/>
              <a:ext cx="3502152" cy="502920"/>
            </a:xfrm>
            <a:prstGeom prst="rect">
              <a:avLst/>
            </a:prstGeom>
            <a:solidFill>
              <a:srgbClr val="6B36C2"/>
            </a:solidFill>
            <a:ln w="1270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 10"/>
            <p:cNvSpPr/>
            <p:nvPr/>
          </p:nvSpPr>
          <p:spPr>
            <a:xfrm>
              <a:off x="2217420" y="2148840"/>
              <a:ext cx="3566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ReLU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217420" y="2743200"/>
              <a:ext cx="35661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i="1" dirty="0">
                  <a:solidFill>
                    <a:srgbClr val="4F268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max(0, x)</a:t>
              </a:r>
              <a:endParaRPr lang="en-US" sz="15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766060" y="3291840"/>
              <a:ext cx="2468880" cy="1371600"/>
            </a:xfrm>
            <a:prstGeom prst="rect">
              <a:avLst/>
            </a:prstGeom>
            <a:solidFill>
              <a:srgbClr val="F4F0F9"/>
            </a:solidFill>
            <a:ln w="6350">
              <a:solidFill>
                <a:srgbClr val="E7E1F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Shape 13"/>
            <p:cNvSpPr/>
            <p:nvPr/>
          </p:nvSpPr>
          <p:spPr>
            <a:xfrm>
              <a:off x="4000500" y="3291840"/>
              <a:ext cx="0" cy="1371600"/>
            </a:xfrm>
            <a:prstGeom prst="line">
              <a:avLst/>
            </a:prstGeom>
            <a:noFill/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Shape 14"/>
            <p:cNvSpPr/>
            <p:nvPr/>
          </p:nvSpPr>
          <p:spPr>
            <a:xfrm>
              <a:off x="2766060" y="3977640"/>
              <a:ext cx="2468880" cy="0"/>
            </a:xfrm>
            <a:prstGeom prst="line">
              <a:avLst/>
            </a:prstGeom>
            <a:noFill/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Shape 15"/>
            <p:cNvSpPr/>
            <p:nvPr/>
          </p:nvSpPr>
          <p:spPr>
            <a:xfrm>
              <a:off x="2766060" y="3977640"/>
              <a:ext cx="1234440" cy="0"/>
            </a:xfrm>
            <a:prstGeom prst="line">
              <a:avLst/>
            </a:prstGeom>
            <a:noFill/>
            <a:ln w="317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Shape 16"/>
            <p:cNvSpPr/>
            <p:nvPr/>
          </p:nvSpPr>
          <p:spPr>
            <a:xfrm flipV="1">
              <a:off x="3966433" y="3396790"/>
              <a:ext cx="1234440" cy="594360"/>
            </a:xfrm>
            <a:prstGeom prst="line">
              <a:avLst/>
            </a:prstGeom>
            <a:noFill/>
            <a:ln w="317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Text 17"/>
            <p:cNvSpPr/>
            <p:nvPr/>
          </p:nvSpPr>
          <p:spPr>
            <a:xfrm>
              <a:off x="2446020" y="4846320"/>
              <a:ext cx="31546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dirty="0">
                  <a:solidFill>
                    <a:srgbClr val="2C1A4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Default for hidden layers — including our U-Net.</a:t>
              </a:r>
              <a:endParaRPr lang="en-US" sz="1150" dirty="0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36870E5-4F2D-6E65-4E95-8BB3AE632E5B}"/>
              </a:ext>
            </a:extLst>
          </p:cNvPr>
          <p:cNvGrpSpPr/>
          <p:nvPr/>
        </p:nvGrpSpPr>
        <p:grpSpPr>
          <a:xfrm>
            <a:off x="6182360" y="2146300"/>
            <a:ext cx="3596640" cy="3566160"/>
            <a:chOff x="5966460" y="2146300"/>
            <a:chExt cx="3596640" cy="3566160"/>
          </a:xfrm>
        </p:grpSpPr>
        <p:sp>
          <p:nvSpPr>
            <p:cNvPr id="126" name="Shape 8">
              <a:extLst>
                <a:ext uri="{FF2B5EF4-FFF2-40B4-BE49-F238E27FC236}">
                  <a16:creationId xmlns:a16="http://schemas.microsoft.com/office/drawing/2014/main" id="{D6EC19DA-34B0-C4FA-F9FA-A9AFF06A9B64}"/>
                </a:ext>
              </a:extLst>
            </p:cNvPr>
            <p:cNvSpPr/>
            <p:nvPr/>
          </p:nvSpPr>
          <p:spPr>
            <a:xfrm>
              <a:off x="6027928" y="2146300"/>
              <a:ext cx="3535172" cy="356616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Shape 19"/>
            <p:cNvSpPr/>
            <p:nvPr/>
          </p:nvSpPr>
          <p:spPr>
            <a:xfrm>
              <a:off x="6030468" y="2148840"/>
              <a:ext cx="3502152" cy="502920"/>
            </a:xfrm>
            <a:prstGeom prst="rect">
              <a:avLst/>
            </a:prstGeom>
            <a:solidFill>
              <a:srgbClr val="8F55E0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 20"/>
            <p:cNvSpPr/>
            <p:nvPr/>
          </p:nvSpPr>
          <p:spPr>
            <a:xfrm>
              <a:off x="5966460" y="2148840"/>
              <a:ext cx="3566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Sigmoid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966460" y="2743200"/>
              <a:ext cx="35661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i="1" dirty="0">
                  <a:solidFill>
                    <a:srgbClr val="4F268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 / (1 + e⁻ˣ)</a:t>
              </a:r>
              <a:endParaRPr lang="en-US" sz="15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515100" y="3291840"/>
              <a:ext cx="2468880" cy="1371600"/>
            </a:xfrm>
            <a:prstGeom prst="rect">
              <a:avLst/>
            </a:prstGeom>
            <a:solidFill>
              <a:srgbClr val="F4F0F9"/>
            </a:solidFill>
            <a:ln w="6350">
              <a:solidFill>
                <a:srgbClr val="E7E1F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Shape 23"/>
            <p:cNvSpPr/>
            <p:nvPr/>
          </p:nvSpPr>
          <p:spPr>
            <a:xfrm>
              <a:off x="7749540" y="3291840"/>
              <a:ext cx="0" cy="1371600"/>
            </a:xfrm>
            <a:prstGeom prst="line">
              <a:avLst/>
            </a:prstGeom>
            <a:noFill/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Shape 24"/>
            <p:cNvSpPr/>
            <p:nvPr/>
          </p:nvSpPr>
          <p:spPr>
            <a:xfrm>
              <a:off x="6515100" y="3977640"/>
              <a:ext cx="2468880" cy="0"/>
            </a:xfrm>
            <a:prstGeom prst="line">
              <a:avLst/>
            </a:prstGeom>
            <a:noFill/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 dirty="0"/>
            </a:p>
          </p:txBody>
        </p:sp>
        <p:sp>
          <p:nvSpPr>
            <p:cNvPr id="27" name="Shape 25"/>
            <p:cNvSpPr/>
            <p:nvPr/>
          </p:nvSpPr>
          <p:spPr>
            <a:xfrm flipV="1">
              <a:off x="6515100" y="4612510"/>
              <a:ext cx="102870" cy="2045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Shape 26"/>
            <p:cNvSpPr/>
            <p:nvPr/>
          </p:nvSpPr>
          <p:spPr>
            <a:xfrm flipV="1">
              <a:off x="6617970" y="4609152"/>
              <a:ext cx="102870" cy="3357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Shape 27"/>
            <p:cNvSpPr/>
            <p:nvPr/>
          </p:nvSpPr>
          <p:spPr>
            <a:xfrm flipV="1">
              <a:off x="6720840" y="4603655"/>
              <a:ext cx="102870" cy="5497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Shape 28"/>
            <p:cNvSpPr/>
            <p:nvPr/>
          </p:nvSpPr>
          <p:spPr>
            <a:xfrm flipV="1">
              <a:off x="6823710" y="4594695"/>
              <a:ext cx="102870" cy="8960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Shape 29"/>
            <p:cNvSpPr/>
            <p:nvPr/>
          </p:nvSpPr>
          <p:spPr>
            <a:xfrm flipV="1">
              <a:off x="6926580" y="4580196"/>
              <a:ext cx="102870" cy="14499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Shape 30"/>
            <p:cNvSpPr/>
            <p:nvPr/>
          </p:nvSpPr>
          <p:spPr>
            <a:xfrm flipV="1">
              <a:off x="7029450" y="4557007"/>
              <a:ext cx="102870" cy="23188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Shape 31"/>
            <p:cNvSpPr/>
            <p:nvPr/>
          </p:nvSpPr>
          <p:spPr>
            <a:xfrm flipV="1">
              <a:off x="7132320" y="4520609"/>
              <a:ext cx="102870" cy="36398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Shape 32"/>
            <p:cNvSpPr/>
            <p:nvPr/>
          </p:nvSpPr>
          <p:spPr>
            <a:xfrm flipV="1">
              <a:off x="7235190" y="4465121"/>
              <a:ext cx="102870" cy="55488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Shape 33"/>
            <p:cNvSpPr/>
            <p:nvPr/>
          </p:nvSpPr>
          <p:spPr>
            <a:xfrm flipV="1">
              <a:off x="7338060" y="4384186"/>
              <a:ext cx="102870" cy="80935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Shape 34"/>
            <p:cNvSpPr/>
            <p:nvPr/>
          </p:nvSpPr>
          <p:spPr>
            <a:xfrm flipV="1">
              <a:off x="7440930" y="4273432"/>
              <a:ext cx="102870" cy="110754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Shape 35"/>
            <p:cNvSpPr/>
            <p:nvPr/>
          </p:nvSpPr>
          <p:spPr>
            <a:xfrm flipV="1">
              <a:off x="7543800" y="4134408"/>
              <a:ext cx="102870" cy="139024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Shape 36"/>
            <p:cNvSpPr/>
            <p:nvPr/>
          </p:nvSpPr>
          <p:spPr>
            <a:xfrm flipV="1">
              <a:off x="7646670" y="3977640"/>
              <a:ext cx="102870" cy="156768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Shape 37"/>
            <p:cNvSpPr/>
            <p:nvPr/>
          </p:nvSpPr>
          <p:spPr>
            <a:xfrm flipV="1">
              <a:off x="7749540" y="3820872"/>
              <a:ext cx="102870" cy="156768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Shape 38"/>
            <p:cNvSpPr/>
            <p:nvPr/>
          </p:nvSpPr>
          <p:spPr>
            <a:xfrm flipV="1">
              <a:off x="7852410" y="3681848"/>
              <a:ext cx="102870" cy="139024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Shape 39"/>
            <p:cNvSpPr/>
            <p:nvPr/>
          </p:nvSpPr>
          <p:spPr>
            <a:xfrm flipV="1">
              <a:off x="7955280" y="3571094"/>
              <a:ext cx="102870" cy="110754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Shape 40"/>
            <p:cNvSpPr/>
            <p:nvPr/>
          </p:nvSpPr>
          <p:spPr>
            <a:xfrm flipV="1">
              <a:off x="8058150" y="3490159"/>
              <a:ext cx="102870" cy="80935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Shape 41"/>
            <p:cNvSpPr/>
            <p:nvPr/>
          </p:nvSpPr>
          <p:spPr>
            <a:xfrm flipV="1">
              <a:off x="8161020" y="3434671"/>
              <a:ext cx="102870" cy="55488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Shape 42"/>
            <p:cNvSpPr/>
            <p:nvPr/>
          </p:nvSpPr>
          <p:spPr>
            <a:xfrm flipV="1">
              <a:off x="8263890" y="3398273"/>
              <a:ext cx="102870" cy="36398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Shape 43"/>
            <p:cNvSpPr/>
            <p:nvPr/>
          </p:nvSpPr>
          <p:spPr>
            <a:xfrm flipV="1">
              <a:off x="8366760" y="3375084"/>
              <a:ext cx="102870" cy="23188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Shape 44"/>
            <p:cNvSpPr/>
            <p:nvPr/>
          </p:nvSpPr>
          <p:spPr>
            <a:xfrm flipV="1">
              <a:off x="8469630" y="3360585"/>
              <a:ext cx="102870" cy="14499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Shape 45"/>
            <p:cNvSpPr/>
            <p:nvPr/>
          </p:nvSpPr>
          <p:spPr>
            <a:xfrm flipV="1">
              <a:off x="8572500" y="3351625"/>
              <a:ext cx="102870" cy="8960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Shape 46"/>
            <p:cNvSpPr/>
            <p:nvPr/>
          </p:nvSpPr>
          <p:spPr>
            <a:xfrm flipV="1">
              <a:off x="8675370" y="3346128"/>
              <a:ext cx="102870" cy="5497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Shape 47"/>
            <p:cNvSpPr/>
            <p:nvPr/>
          </p:nvSpPr>
          <p:spPr>
            <a:xfrm flipV="1">
              <a:off x="8778240" y="3342770"/>
              <a:ext cx="102870" cy="3357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Shape 48"/>
            <p:cNvSpPr/>
            <p:nvPr/>
          </p:nvSpPr>
          <p:spPr>
            <a:xfrm flipV="1">
              <a:off x="8881110" y="3340725"/>
              <a:ext cx="102870" cy="2045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Text 49"/>
            <p:cNvSpPr/>
            <p:nvPr/>
          </p:nvSpPr>
          <p:spPr>
            <a:xfrm>
              <a:off x="6195060" y="4846320"/>
              <a:ext cx="31546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dirty="0">
                  <a:solidFill>
                    <a:srgbClr val="2C1A4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Squashes to (0,1) — good for probabilities.</a:t>
              </a:r>
              <a:endParaRPr lang="en-US" sz="1150" dirty="0"/>
            </a:p>
          </p:txBody>
        </p:sp>
      </p:grpSp>
      <p:sp>
        <p:nvSpPr>
          <p:cNvPr id="54" name="Text 52"/>
          <p:cNvSpPr/>
          <p:nvPr/>
        </p:nvSpPr>
        <p:spPr>
          <a:xfrm>
            <a:off x="8406765" y="2654179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Tanh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Rule of thumb: ReLU for hidden layers; pick the output activation to match your target range.</a:t>
            </a:r>
            <a:endParaRPr lang="en-US" sz="1200" dirty="0"/>
          </a:p>
        </p:txBody>
      </p:sp>
      <p:pic>
        <p:nvPicPr>
          <p:cNvPr id="915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TRAINING LOOP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615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a Network Learns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 is a feedback loop. The network practices, checks how wrong it was, and adjusts — over and over.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254203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64008" cy="237744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527048" y="2286000"/>
            <a:ext cx="585216" cy="585216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527048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2971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Forward pass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338328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Push a </a:t>
            </a:r>
            <a:r>
              <a:rPr lang="en-US" sz="110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batch</a:t>
            </a: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of data through the network.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network outputs a guess.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27248" y="3246120"/>
            <a:ext cx="256032" cy="0"/>
          </a:xfrm>
          <a:prstGeom prst="line">
            <a:avLst/>
          </a:prstGeom>
          <a:noFill/>
          <a:ln w="2794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3419856" y="2057400"/>
            <a:ext cx="254203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419856" y="2057400"/>
            <a:ext cx="64008" cy="237744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398264" y="2286000"/>
            <a:ext cx="585216" cy="585216"/>
          </a:xfrm>
          <a:prstGeom prst="ellipse">
            <a:avLst/>
          </a:prstGeom>
          <a:solidFill>
            <a:srgbClr val="C77F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398264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57016" y="2971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 loss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85616" y="3421887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Compare predictions with ground-truth labels — a single scalar.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98464" y="3246120"/>
            <a:ext cx="256032" cy="0"/>
          </a:xfrm>
          <a:prstGeom prst="line">
            <a:avLst/>
          </a:prstGeom>
          <a:noFill/>
          <a:ln w="2794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6291072" y="2057400"/>
            <a:ext cx="254203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6291072" y="2057400"/>
            <a:ext cx="64008" cy="237744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7269480" y="2286000"/>
            <a:ext cx="585216" cy="585216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7269480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28232" y="2971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Backward pass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55664" y="338328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 which way to nudge each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weight to reduce the error (gradient).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69680" y="3246120"/>
            <a:ext cx="256032" cy="0"/>
          </a:xfrm>
          <a:prstGeom prst="line">
            <a:avLst/>
          </a:prstGeom>
          <a:noFill/>
          <a:ln w="2794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9162288" y="2057400"/>
            <a:ext cx="254203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9162288" y="2057400"/>
            <a:ext cx="64008" cy="237744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10140696" y="2286000"/>
            <a:ext cx="585216" cy="585216"/>
          </a:xfrm>
          <a:prstGeom prst="ellipse">
            <a:avLst/>
          </a:prstGeom>
          <a:solidFill>
            <a:srgbClr val="7BB83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10140696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299448" y="2971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Weight update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326880" y="338328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Take a small step in that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direction. Weights improve slightly.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433304" y="4480560"/>
            <a:ext cx="0" cy="365760"/>
          </a:xfrm>
          <a:prstGeom prst="line">
            <a:avLst/>
          </a:prstGeom>
          <a:noFill/>
          <a:ln w="20320">
            <a:solidFill>
              <a:srgbClr val="C77F2E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1819656" y="4846320"/>
            <a:ext cx="8613648" cy="0"/>
          </a:xfrm>
          <a:prstGeom prst="line">
            <a:avLst/>
          </a:prstGeom>
          <a:noFill/>
          <a:ln w="20320">
            <a:solidFill>
              <a:srgbClr val="C77F2E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 flipV="1">
            <a:off x="1819656" y="4480560"/>
            <a:ext cx="0" cy="365760"/>
          </a:xfrm>
          <a:prstGeom prst="line">
            <a:avLst/>
          </a:prstGeom>
          <a:noFill/>
          <a:ln w="2032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>
            <a:off x="4361688" y="4690872"/>
            <a:ext cx="320040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CEB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3035808" y="4706112"/>
            <a:ext cx="5742432" cy="292608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repeat for every example, many times (epochs)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7DCFA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Intuition: 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 adjusting a shower's hot and cold taps. You feel the temperature (error), turn the taps a little (update), feel again, and repeat until it's just right.</a:t>
            </a:r>
            <a:endParaRPr lang="en-US" sz="1300" dirty="0"/>
          </a:p>
        </p:txBody>
      </p:sp>
      <p:pic>
        <p:nvPicPr>
          <p:cNvPr id="916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LOSS FUNCTION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Loss: Measuring "How Wrong"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8480" y="161848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2 of the loop needs a precise definition. The loss function turns "how wrong was the guess?" into a single number the network can minimize.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4572000" cy="3291840"/>
          </a:xfrm>
          <a:prstGeom prst="rect">
            <a:avLst/>
          </a:prstGeom>
          <a:solidFill>
            <a:srgbClr val="4F2683"/>
          </a:solidFill>
          <a:ln w="9525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IDEA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 number that measures how far predictions are from the truth.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Lower loss = better predictions. Training is just the </a:t>
            </a:r>
            <a:r>
              <a:rPr lang="en-US" sz="1250" b="1" i="1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 for weights</a:t>
            </a:r>
            <a:r>
              <a:rPr lang="en-US" sz="1250" i="1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that make this number small.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 our task (predicting numbers) we use a regression loss.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40680" y="2057400"/>
            <a:ext cx="6199632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5440680" y="2057400"/>
            <a:ext cx="64008" cy="1536192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669280" y="2185416"/>
            <a:ext cx="5788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Mean Squared Error (MSE)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2551176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of (</a:t>
            </a:r>
            <a:r>
              <a:rPr lang="en-US" sz="1300" b="1" dirty="0" err="1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g.truth</a:t>
            </a:r>
            <a:r>
              <a:rPr lang="en-US" sz="13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prediction)²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2953512"/>
            <a:ext cx="5788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default. Punishes big mistakes hard, so the model really avoids large errors.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40680" y="3685032"/>
            <a:ext cx="6199632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5440680" y="3685032"/>
            <a:ext cx="64008" cy="1536192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5669280" y="3813048"/>
            <a:ext cx="5788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Mean Absolute Error (MAE)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4178808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of |</a:t>
            </a:r>
            <a:r>
              <a:rPr lang="en-US" sz="1300" b="1" dirty="0" err="1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g.truth</a:t>
            </a:r>
            <a:r>
              <a:rPr lang="en-US" sz="13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prediction|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4581144"/>
            <a:ext cx="5788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Treats all errors evenly. More forgiving of occasional outliers in the data.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loss is your specification of what "good" means. We will train our U-Net to minimize MSE on the velocity field.</a:t>
            </a:r>
            <a:endParaRPr lang="en-US" sz="1200" dirty="0"/>
          </a:p>
        </p:txBody>
      </p:sp>
      <p:pic>
        <p:nvPicPr>
          <p:cNvPr id="917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WALKING DOWNHILL ON THE LOSS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" y="8407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Gradient Descent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3–4 of the loop, made precise. The gradient points uphill on the loss; we step the opposite way to reduce error.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5212080" cy="3246120"/>
          </a:xfrm>
          <a:prstGeom prst="rect">
            <a:avLst/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22960" y="2084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Loss landscape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1560" y="2743200"/>
            <a:ext cx="4206240" cy="2377440"/>
          </a:xfrm>
          <a:prstGeom prst="ellipse">
            <a:avLst/>
          </a:prstGeom>
          <a:solidFill>
            <a:srgbClr val="F4F0F9"/>
          </a:solidFill>
          <a:ln w="9525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600200" y="3063240"/>
            <a:ext cx="3108960" cy="1737360"/>
          </a:xfrm>
          <a:prstGeom prst="ellipse">
            <a:avLst/>
          </a:prstGeom>
          <a:solidFill>
            <a:srgbClr val="E7DCFA"/>
          </a:solidFill>
          <a:ln w="9525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2148840" y="3360420"/>
            <a:ext cx="2011680" cy="1143000"/>
          </a:xfrm>
          <a:prstGeom prst="ellipse">
            <a:avLst/>
          </a:prstGeom>
          <a:solidFill>
            <a:srgbClr val="F4F0F9"/>
          </a:solidFill>
          <a:ln w="9525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2651760" y="3648456"/>
            <a:ext cx="1005840" cy="566928"/>
          </a:xfrm>
          <a:prstGeom prst="ellipse">
            <a:avLst/>
          </a:prstGeom>
          <a:solidFill>
            <a:srgbClr val="E7DCFA"/>
          </a:solidFill>
          <a:ln w="9525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3044952" y="3822192"/>
            <a:ext cx="219456" cy="219456"/>
          </a:xfrm>
          <a:prstGeom prst="ellipse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2720848" y="3995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minimum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88720" y="2743200"/>
            <a:ext cx="731520" cy="502920"/>
          </a:xfrm>
          <a:prstGeom prst="line">
            <a:avLst/>
          </a:prstGeom>
          <a:noFill/>
          <a:ln w="2540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1920240" y="3246120"/>
            <a:ext cx="502920" cy="182880"/>
          </a:xfrm>
          <a:prstGeom prst="line">
            <a:avLst/>
          </a:prstGeom>
          <a:noFill/>
          <a:ln w="2540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2423160" y="3429000"/>
            <a:ext cx="475488" cy="338328"/>
          </a:xfrm>
          <a:prstGeom prst="line">
            <a:avLst/>
          </a:prstGeom>
          <a:noFill/>
          <a:ln w="2540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1097280" y="2651760"/>
            <a:ext cx="182880" cy="182880"/>
          </a:xfrm>
          <a:prstGeom prst="ellipse">
            <a:avLst/>
          </a:prstGeom>
          <a:solidFill>
            <a:srgbClr val="4F268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1828800" y="3154680"/>
            <a:ext cx="182880" cy="182880"/>
          </a:xfrm>
          <a:prstGeom prst="ellipse">
            <a:avLst/>
          </a:prstGeom>
          <a:solidFill>
            <a:srgbClr val="4F268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2331720" y="3337560"/>
            <a:ext cx="182880" cy="182880"/>
          </a:xfrm>
          <a:prstGeom prst="ellipse">
            <a:avLst/>
          </a:prstGeom>
          <a:solidFill>
            <a:srgbClr val="4F268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846328" y="48082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each step moves downhill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1965960"/>
            <a:ext cx="5696712" cy="1600200"/>
          </a:xfrm>
          <a:prstGeom prst="roundRect">
            <a:avLst>
              <a:gd name="adj" fmla="val 5714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217920" y="213055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UPDATE RULE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46888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:=  w  −  η · ∂L/∂w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17920" y="3172968"/>
            <a:ext cx="5148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 each weight by stepping against its gradient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3749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374904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weight (parameter) of the network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4224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422452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learning rate — the step size you choose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35040" y="47000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78040" y="4700016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gradient: how the loss L changes with 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7DCFA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words: 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gradient ∂L/∂w says </a:t>
            </a:r>
            <a:r>
              <a:rPr lang="en-US" sz="130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which direction increases the loss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; the minus sign turns us around; η controls how far we move. Repeat for every weight, every batch — and how we get ∂L/∂w is backpropagation, next.</a:t>
            </a:r>
            <a:endParaRPr lang="en-US" sz="1300" dirty="0"/>
          </a:p>
        </p:txBody>
      </p:sp>
      <p:pic>
        <p:nvPicPr>
          <p:cNvPr id="918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WE COMPUTE ∂L/∂w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Backpropagation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Gradient descent needs ∂L/∂w for every weight. Backpropagation computes them all efficiently using the chain rule, working backward from the loss.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23317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051560" y="2331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459736" y="2601468"/>
            <a:ext cx="795528" cy="0"/>
          </a:xfrm>
          <a:prstGeom prst="line">
            <a:avLst/>
          </a:prstGeom>
          <a:noFill/>
          <a:ln w="25400">
            <a:solidFill>
              <a:srgbClr val="6B36C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291840" y="23317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291840" y="2331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Layer 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0016" y="2601468"/>
            <a:ext cx="795528" cy="0"/>
          </a:xfrm>
          <a:prstGeom prst="line">
            <a:avLst/>
          </a:prstGeom>
          <a:noFill/>
          <a:ln w="25400">
            <a:solidFill>
              <a:srgbClr val="6B36C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5532120" y="23317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532120" y="2331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Layer 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40296" y="2601468"/>
            <a:ext cx="795528" cy="0"/>
          </a:xfrm>
          <a:prstGeom prst="line">
            <a:avLst/>
          </a:prstGeom>
          <a:noFill/>
          <a:ln w="25400">
            <a:solidFill>
              <a:srgbClr val="6B36C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7772400" y="23317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7772400" y="2331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80576" y="2601468"/>
            <a:ext cx="795528" cy="0"/>
          </a:xfrm>
          <a:prstGeom prst="line">
            <a:avLst/>
          </a:prstGeom>
          <a:noFill/>
          <a:ln w="25400">
            <a:solidFill>
              <a:srgbClr val="6B36C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10012680" y="23317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10012680" y="2331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Loss 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455" y="1967325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forward pass:  data flows right, producing a prediction and a loss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>
            <a:off x="9180576" y="2930652"/>
            <a:ext cx="795528" cy="0"/>
          </a:xfrm>
          <a:prstGeom prst="line">
            <a:avLst/>
          </a:prstGeom>
          <a:noFill/>
          <a:ln w="2540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 flipH="1">
            <a:off x="6940296" y="2930652"/>
            <a:ext cx="795528" cy="0"/>
          </a:xfrm>
          <a:prstGeom prst="line">
            <a:avLst/>
          </a:prstGeom>
          <a:noFill/>
          <a:ln w="2540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 flipH="1">
            <a:off x="4700016" y="2930652"/>
            <a:ext cx="795528" cy="0"/>
          </a:xfrm>
          <a:prstGeom prst="line">
            <a:avLst/>
          </a:prstGeom>
          <a:noFill/>
          <a:ln w="2540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 flipH="1">
            <a:off x="2459736" y="2930652"/>
            <a:ext cx="795528" cy="0"/>
          </a:xfrm>
          <a:prstGeom prst="line">
            <a:avLst/>
          </a:prstGeom>
          <a:noFill/>
          <a:ln w="2540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1051560" y="33101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backward pass:  gradients flow left, layer by layer (the chain rule)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77240" y="41239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CHAIN RULE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2000" y="44805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 how specific weight affects the loss, then multiply the partial derivative along the dependency path.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150" dirty="0">
              <a:solidFill>
                <a:srgbClr val="D9D2E0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 you are interested in the detailed derivation, here is an excellent material: </a:t>
            </a:r>
            <a:r>
              <a:rPr lang="en-US" sz="1150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/>
              </a:rPr>
              <a:t>link</a:t>
            </a:r>
            <a:endParaRPr lang="en-US" sz="1150" dirty="0">
              <a:solidFill>
                <a:srgbClr val="D9D2E0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977640"/>
            <a:ext cx="53492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6263640" y="3977640"/>
            <a:ext cx="64008" cy="205740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649224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it flows backward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537960" y="4535424"/>
            <a:ext cx="118872" cy="118872"/>
          </a:xfrm>
          <a:prstGeom prst="ellipse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6766560" y="4480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Start at the loss, where the error is known exactly.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37960" y="5047488"/>
            <a:ext cx="118872" cy="118872"/>
          </a:xfrm>
          <a:prstGeom prst="ellipse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6766560" y="49926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Pass the gradient back through each layer, reusing the layer in front of it — no repeated work.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537960" y="5559552"/>
            <a:ext cx="118872" cy="118872"/>
          </a:xfrm>
          <a:prstGeom prst="ellipse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6766560" y="55046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 backward pass yields ∂L/∂w for every weight at once.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92240" y="5669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Those gradients feed straight into w := w − η · ∂L/∂w.</a:t>
            </a:r>
            <a:endParaRPr lang="en-US" sz="1100" dirty="0"/>
          </a:p>
        </p:txBody>
      </p:sp>
      <p:pic>
        <p:nvPicPr>
          <p:cNvPr id="919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VOCABULARY OF TRAINING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5496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Epochs, Batches, and Iterations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Three words you will see constantly while training. They simply describe how we feed the data through the loop.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64008" cy="274320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612648" y="1965960"/>
            <a:ext cx="3502152" cy="640080"/>
          </a:xfrm>
          <a:prstGeom prst="rect">
            <a:avLst/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77240" y="1965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Batch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</a:t>
            </a:r>
            <a:r>
              <a:rPr lang="en-US" sz="115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small group of examples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processed together before one weight update. We rarely use the whole dataset at once — it might not fit on memory and updates would be slow.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251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16 images at a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96596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297680" y="1965960"/>
            <a:ext cx="64008" cy="274320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361688" y="1965960"/>
            <a:ext cx="3502152" cy="640080"/>
          </a:xfrm>
          <a:prstGeom prst="rect">
            <a:avLst/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526280" y="1965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Iteration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26280" y="2788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 weight update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process one batch, compute the loss, take one gradient-descent step.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26280" y="4251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5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batch = 1 iteration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196596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8046720" y="1965960"/>
            <a:ext cx="64008" cy="274320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8110728" y="1965960"/>
            <a:ext cx="3502152" cy="640080"/>
          </a:xfrm>
          <a:prstGeom prst="rect">
            <a:avLst/>
          </a:prstGeom>
          <a:solidFill>
            <a:srgbClr val="EDF8DA"/>
          </a:solidFill>
          <a:ln w="12700">
            <a:solidFill>
              <a:srgbClr val="EDF8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8275320" y="1965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Epoch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75320" y="2788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 full pass through the entire training set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(many batches). Training usually runs for many epochs.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75320" y="4251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B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epochs = 50 passes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914400" y="49834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Putting it together: 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 you have 1,000 training examples and a batch size of 50, then one epoch = 20 iterations. Train for 30 epochs and the model sees the full dataset 30 times, taking 600 weight updates in total.</a:t>
            </a:r>
            <a:endParaRPr lang="en-US" sz="1300" dirty="0"/>
          </a:p>
        </p:txBody>
      </p:sp>
      <p:pic>
        <p:nvPicPr>
          <p:cNvPr id="921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GENERALIZATION, OVERFITTING &amp; THE DATA SPLIT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777239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Will It Work on New Data?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Getting the training answers right is not the goal — doing well on data it has never seen is. That single idea drives how we use our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5486400" cy="3246120"/>
          </a:xfrm>
          <a:prstGeom prst="rect">
            <a:avLst/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Three outcomes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463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124712" y="3602736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344168" y="3410712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563624" y="3474720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1783080" y="3218688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2002536" y="3282696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2148840" y="3090672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978408" y="3200400"/>
            <a:ext cx="1243584" cy="256032"/>
          </a:xfrm>
          <a:prstGeom prst="line">
            <a:avLst/>
          </a:prstGeom>
          <a:noFill/>
          <a:ln w="254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Underfit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325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too simple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96312" y="2743200"/>
            <a:ext cx="1463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2752344" y="3602736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2971800" y="3410712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3191256" y="3474720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3410712" y="3218688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3630168" y="3282696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3776472" y="3090672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 flipV="1">
            <a:off x="2606040" y="3619293"/>
            <a:ext cx="103632" cy="84027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 flipV="1">
            <a:off x="2709672" y="3542779"/>
            <a:ext cx="103632" cy="76514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 flipV="1">
            <a:off x="2813304" y="3479452"/>
            <a:ext cx="103632" cy="63327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 flipV="1">
            <a:off x="2916936" y="3431758"/>
            <a:ext cx="103632" cy="47695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 flipV="1">
            <a:off x="3020568" y="3398313"/>
            <a:ext cx="103632" cy="33445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 flipV="1">
            <a:off x="3124200" y="3374247"/>
            <a:ext cx="103632" cy="24066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 flipV="1">
            <a:off x="3227832" y="3352393"/>
            <a:ext cx="103632" cy="21854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 flipV="1">
            <a:off x="3331464" y="3325041"/>
            <a:ext cx="103632" cy="27352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 flipV="1">
            <a:off x="3435096" y="3285830"/>
            <a:ext cx="103632" cy="39212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 flipV="1">
            <a:off x="3538728" y="3231299"/>
            <a:ext cx="103632" cy="54531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 flipV="1">
            <a:off x="3642360" y="3161740"/>
            <a:ext cx="103632" cy="69559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 flipV="1">
            <a:off x="3745992" y="3081125"/>
            <a:ext cx="103632" cy="80615"/>
          </a:xfrm>
          <a:prstGeom prst="line">
            <a:avLst/>
          </a:prstGeom>
          <a:noFill/>
          <a:ln w="254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2404872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Good fit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04872" y="4325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just right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23944" y="2743200"/>
            <a:ext cx="1463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>
            <a:off x="4379976" y="3602736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Shape 43"/>
          <p:cNvSpPr/>
          <p:nvPr/>
        </p:nvSpPr>
        <p:spPr>
          <a:xfrm>
            <a:off x="4599432" y="3410712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Shape 44"/>
          <p:cNvSpPr/>
          <p:nvPr/>
        </p:nvSpPr>
        <p:spPr>
          <a:xfrm>
            <a:off x="4818888" y="3474720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Shape 45"/>
          <p:cNvSpPr/>
          <p:nvPr/>
        </p:nvSpPr>
        <p:spPr>
          <a:xfrm>
            <a:off x="5038344" y="3218688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Shape 46"/>
          <p:cNvSpPr/>
          <p:nvPr/>
        </p:nvSpPr>
        <p:spPr>
          <a:xfrm>
            <a:off x="5257800" y="3282696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Shape 47"/>
          <p:cNvSpPr/>
          <p:nvPr/>
        </p:nvSpPr>
        <p:spPr>
          <a:xfrm>
            <a:off x="5404104" y="3090672"/>
            <a:ext cx="73152" cy="73152"/>
          </a:xfrm>
          <a:prstGeom prst="ellipse">
            <a:avLst/>
          </a:prstGeom>
          <a:solidFill>
            <a:srgbClr val="7E7088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Shape 48"/>
          <p:cNvSpPr/>
          <p:nvPr/>
        </p:nvSpPr>
        <p:spPr>
          <a:xfrm flipV="1">
            <a:off x="4416552" y="3447288"/>
            <a:ext cx="219456" cy="192024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Shape 49"/>
          <p:cNvSpPr/>
          <p:nvPr/>
        </p:nvSpPr>
        <p:spPr>
          <a:xfrm>
            <a:off x="4636008" y="3447288"/>
            <a:ext cx="219456" cy="64008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Shape 50"/>
          <p:cNvSpPr/>
          <p:nvPr/>
        </p:nvSpPr>
        <p:spPr>
          <a:xfrm flipV="1">
            <a:off x="4855464" y="3255264"/>
            <a:ext cx="219456" cy="256032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Shape 51"/>
          <p:cNvSpPr/>
          <p:nvPr/>
        </p:nvSpPr>
        <p:spPr>
          <a:xfrm>
            <a:off x="5074920" y="3255264"/>
            <a:ext cx="219456" cy="64008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Shape 52"/>
          <p:cNvSpPr/>
          <p:nvPr/>
        </p:nvSpPr>
        <p:spPr>
          <a:xfrm flipV="1">
            <a:off x="5294376" y="3127248"/>
            <a:ext cx="146304" cy="192024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Text 53"/>
          <p:cNvSpPr/>
          <p:nvPr/>
        </p:nvSpPr>
        <p:spPr>
          <a:xfrm>
            <a:off x="4032504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032504" y="4325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memorized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2296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Overfitting = low error on training data but high error on new data.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63640" y="2057400"/>
            <a:ext cx="53492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9" name="Shape 57"/>
          <p:cNvSpPr/>
          <p:nvPr/>
        </p:nvSpPr>
        <p:spPr>
          <a:xfrm>
            <a:off x="6263640" y="2057400"/>
            <a:ext cx="64008" cy="324612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649224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 we split the data three ways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37960" y="2651760"/>
            <a:ext cx="3840480" cy="457200"/>
          </a:xfrm>
          <a:prstGeom prst="rect">
            <a:avLst/>
          </a:prstGeom>
          <a:solidFill>
            <a:srgbClr val="6B36C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653796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 80%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378440" y="2651760"/>
            <a:ext cx="480060" cy="457200"/>
          </a:xfrm>
          <a:prstGeom prst="rect">
            <a:avLst/>
          </a:prstGeom>
          <a:solidFill>
            <a:srgbClr val="C77F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10378440" y="2651760"/>
            <a:ext cx="480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 10%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0858500" y="2651760"/>
            <a:ext cx="480060" cy="457200"/>
          </a:xfrm>
          <a:prstGeom prst="rect">
            <a:avLst/>
          </a:prstGeom>
          <a:solidFill>
            <a:srgbClr val="7BB83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6" name="Text 64"/>
          <p:cNvSpPr/>
          <p:nvPr/>
        </p:nvSpPr>
        <p:spPr>
          <a:xfrm>
            <a:off x="10858500" y="2651760"/>
            <a:ext cx="480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10%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537960" y="3392424"/>
            <a:ext cx="128016" cy="128016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8" name="Text 66"/>
          <p:cNvSpPr/>
          <p:nvPr/>
        </p:nvSpPr>
        <p:spPr>
          <a:xfrm>
            <a:off x="676656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Train:  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model learns its weights from this.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537960" y="3959352"/>
            <a:ext cx="128016" cy="128016"/>
          </a:xfrm>
          <a:prstGeom prst="ellipse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0" name="Text 68"/>
          <p:cNvSpPr/>
          <p:nvPr/>
        </p:nvSpPr>
        <p:spPr>
          <a:xfrm>
            <a:off x="6766560" y="3904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Validation:  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tune choices and watch for overfitting.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537960" y="4526280"/>
            <a:ext cx="128016" cy="128016"/>
          </a:xfrm>
          <a:prstGeom prst="ellipse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2" name="Text 70"/>
          <p:cNvSpPr/>
          <p:nvPr/>
        </p:nvSpPr>
        <p:spPr>
          <a:xfrm>
            <a:off x="6766560" y="44714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Test:  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touched once, at the end, for an honest score.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49224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i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Golden rule: the test set must stay untouched until the very end.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 will use this exact 80 / 10 / 10 split in the hands-on — and revisit overfitting when we watch the loss curves.</a:t>
            </a:r>
            <a:endParaRPr lang="en-US" sz="1200" dirty="0"/>
          </a:p>
        </p:txBody>
      </p:sp>
      <p:pic>
        <p:nvPicPr>
          <p:cNvPr id="922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 Learning for Engineering  ·  Part I: Foundations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DIAGNOSTIC YOU WILL RUN A THOUSAND TIMES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Overfitting vs Underfitting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6126480" cy="3291840"/>
          </a:xfrm>
          <a:prstGeom prst="rect">
            <a:avLst/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1417320" y="4572000"/>
            <a:ext cx="5212080" cy="0"/>
          </a:xfrm>
          <a:prstGeom prst="line">
            <a:avLst/>
          </a:prstGeom>
          <a:noFill/>
          <a:ln w="19050">
            <a:solidFill>
              <a:srgbClr val="1E0E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417320" y="2103120"/>
            <a:ext cx="0" cy="2468880"/>
          </a:xfrm>
          <a:prstGeom prst="line">
            <a:avLst/>
          </a:prstGeom>
          <a:noFill/>
          <a:ln w="19050">
            <a:solidFill>
              <a:srgbClr val="1E0E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1417320" y="4617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epochs 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2004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2226564"/>
            <a:ext cx="260604" cy="419710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677924" y="2646274"/>
            <a:ext cx="364846" cy="493776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2042770" y="3140050"/>
            <a:ext cx="416966" cy="395021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2459736" y="3535070"/>
            <a:ext cx="521208" cy="296266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2980944" y="3831336"/>
            <a:ext cx="521208" cy="197510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3502152" y="4028846"/>
            <a:ext cx="521208" cy="123444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023360" y="4152290"/>
            <a:ext cx="521208" cy="98755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4544568" y="4251046"/>
            <a:ext cx="625450" cy="98755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5170018" y="4349801"/>
            <a:ext cx="677570" cy="74066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5847588" y="4423867"/>
            <a:ext cx="781812" cy="49378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1417320" y="2177186"/>
            <a:ext cx="260604" cy="419710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1677924" y="2596896"/>
            <a:ext cx="364846" cy="444398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2042770" y="3041294"/>
            <a:ext cx="416966" cy="345643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2459736" y="3386938"/>
            <a:ext cx="521208" cy="246888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2980944" y="3633826"/>
            <a:ext cx="521208" cy="123444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3502152" y="3757270"/>
            <a:ext cx="521208" cy="49378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 flipV="1">
            <a:off x="4023360" y="3732581"/>
            <a:ext cx="521208" cy="74066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 flipV="1">
            <a:off x="4544568" y="3584448"/>
            <a:ext cx="625450" cy="148133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 flipV="1">
            <a:off x="5170018" y="3386938"/>
            <a:ext cx="677570" cy="197510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 flipV="1">
            <a:off x="5847588" y="3140050"/>
            <a:ext cx="781812" cy="246888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3931920" y="3715207"/>
            <a:ext cx="182880" cy="182880"/>
          </a:xfrm>
          <a:prstGeom prst="ellipse">
            <a:avLst/>
          </a:prstGeom>
          <a:solidFill>
            <a:srgbClr val="7BB83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4023360" y="2103120"/>
            <a:ext cx="0" cy="2468880"/>
          </a:xfrm>
          <a:prstGeom prst="line">
            <a:avLst/>
          </a:prstGeom>
          <a:noFill/>
          <a:ln w="12700">
            <a:solidFill>
              <a:srgbClr val="7BB834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352044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sweet spot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46304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underfit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32120" y="21488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 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417320" y="4818888"/>
            <a:ext cx="365760" cy="0"/>
          </a:xfrm>
          <a:prstGeom prst="line">
            <a:avLst/>
          </a:prstGeom>
          <a:noFill/>
          <a:ln w="317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182880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 loss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520440" y="4818888"/>
            <a:ext cx="365760" cy="0"/>
          </a:xfrm>
          <a:prstGeom prst="line">
            <a:avLst/>
          </a:prstGeom>
          <a:noFill/>
          <a:ln w="317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3931920" y="4709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validation loss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323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Reading the curves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132320" y="2286000"/>
            <a:ext cx="4572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Shape 43"/>
          <p:cNvSpPr/>
          <p:nvPr/>
        </p:nvSpPr>
        <p:spPr>
          <a:xfrm>
            <a:off x="7132320" y="2286000"/>
            <a:ext cx="64008" cy="868680"/>
          </a:xfrm>
          <a:prstGeom prst="rect">
            <a:avLst/>
          </a:prstGeom>
          <a:solidFill>
            <a:srgbClr val="F0A757"/>
          </a:solidFill>
          <a:ln w="12700">
            <a:solidFill>
              <a:srgbClr val="F0A7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7360920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Underfitting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60920" y="2697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Both losses high and flat. Model lacks capacity or hasn't trained long enough.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32320" y="3246120"/>
            <a:ext cx="4572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Shape 47"/>
          <p:cNvSpPr/>
          <p:nvPr/>
        </p:nvSpPr>
        <p:spPr>
          <a:xfrm>
            <a:off x="7132320" y="3246120"/>
            <a:ext cx="64008" cy="86868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7360920" y="3337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Just right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360920" y="3657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Both losses low; small, stable gap. Stop here.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32320" y="4206240"/>
            <a:ext cx="4572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Shape 51"/>
          <p:cNvSpPr/>
          <p:nvPr/>
        </p:nvSpPr>
        <p:spPr>
          <a:xfrm>
            <a:off x="7132320" y="4206240"/>
            <a:ext cx="64008" cy="8686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736092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360920" y="4617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 loss keeps dropping while validation loss rises. The model is memorizing.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77240" y="5349240"/>
            <a:ext cx="11018520" cy="960120"/>
          </a:xfrm>
          <a:prstGeom prst="rect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Text 55"/>
          <p:cNvSpPr/>
          <p:nvPr/>
        </p:nvSpPr>
        <p:spPr>
          <a:xfrm>
            <a:off x="1005840" y="5440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058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surrogate that memorizes its training simulations is useless — it must predict the next geometry, not recite the last one.</a:t>
            </a:r>
            <a:endParaRPr lang="en-US" sz="1300" dirty="0"/>
          </a:p>
        </p:txBody>
      </p:sp>
      <p:sp>
        <p:nvSpPr>
          <p:cNvPr id="59" name="Text 0">
            <a:extLst>
              <a:ext uri="{FF2B5EF4-FFF2-40B4-BE49-F238E27FC236}">
                <a16:creationId xmlns:a16="http://schemas.microsoft.com/office/drawing/2014/main" id="{2A0D8EFD-F806-C338-DB79-286D9E3AADB3}"/>
              </a:ext>
            </a:extLst>
          </p:cNvPr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pic>
        <p:nvPicPr>
          <p:cNvPr id="923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AND THE TOOLS THAT HELP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955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Deep Networks Are Tricky to Train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Overfitting isn't the only hurdle. A few common problems can stall training — and a few standard tools fix most of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5486400" cy="3383280"/>
          </a:xfrm>
          <a:prstGeom prst="rect">
            <a:avLst/>
          </a:prstGeom>
          <a:solidFill>
            <a:srgbClr val="FBD7E5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64008" cy="33832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22960" y="21579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Common problems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6060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Inputs on different scales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one feature in thousands, another in fractions — training wobbles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30098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Bad starting weights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begin too big or too small and signals explode or vanish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99592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Vanishing gradients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in deep nets, early layers barely learn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69087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Overfitting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memorizing training data instead of the pattern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2011680"/>
            <a:ext cx="5349240" cy="3383280"/>
          </a:xfrm>
          <a:prstGeom prst="rect">
            <a:avLst/>
          </a:prstGeom>
          <a:solidFill>
            <a:srgbClr val="EDF8DA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6263640" y="2011680"/>
            <a:ext cx="64008" cy="338328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537960" y="215798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Standard fixes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2606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Normalize the inputs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rescale features to a common range so all start on equal footing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3796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330098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Smart weight initialization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proven schemes keep signals healthy from the first step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379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39959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ReLU + good architecture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design choices (like skip connections) keep gradients flowing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37960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46908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Regularization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dropout, weight decay, and early stopping curb overfitting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 don't need to master each fix today — just know they exist and why. The libraries we use apply most of them for you.</a:t>
            </a:r>
            <a:endParaRPr lang="en-US" sz="1200" dirty="0"/>
          </a:p>
        </p:txBody>
      </p:sp>
      <p:pic>
        <p:nvPicPr>
          <p:cNvPr id="924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PUTTING INPUTS ON A COMMON SCALE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985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 Scaling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“Normalize the inputs” was one of the fixes. Here is exactly how — the two standard formulas, and why scaling matters so much for training.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54406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64008" cy="269748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22960" y="21031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Standardization  (z-score)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51460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E7DCFA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822960" y="25146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=  ( x − μ ) / σ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32918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= mean,   </a:t>
            </a:r>
            <a:r>
              <a:rPr lang="en-US" sz="115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= standard deviation (both from training data).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1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Result: mean 0, spread 1. All features are measured on the same statistical scale</a:t>
            </a:r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54406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64008" cy="269748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492240" y="21031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Min–Max scaling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92240" y="251460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FCEBD4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492240" y="25146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x′  =  ( x − x_min ) / ( x_max − x_min 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, </a:t>
            </a:r>
            <a:r>
              <a:rPr lang="en-US" sz="1150" b="1" dirty="0">
                <a:solidFill>
                  <a:srgbClr val="C77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x_max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= smallest / largest value (from training data).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3749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Result: every value in [0, 1]. Best when values have a known, bounded range (e.g. our flow-region labels).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777240" y="4956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scaling matters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285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Stability:  </a:t>
            </a: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 one input ranges 0–10 000 and another 0–1, the large one dominates the gradient and training becomes unstable.    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Convergence:  </a:t>
            </a: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with all inputs on a similar scale, the loss surface is well-shaped, so gradient descent reaches a good solution in far fewer steps.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60533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AE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Golden rule: fit the scaler on the TRAINING set only, then apply the same μ, σ (or min, max) to validation and test — otherwise you leak information.</a:t>
            </a:r>
            <a:endParaRPr lang="en-US" sz="1050" dirty="0"/>
          </a:p>
        </p:txBody>
      </p:sp>
      <p:pic>
        <p:nvPicPr>
          <p:cNvPr id="925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FUEL FOR LEARNING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Data: Quantity and Quality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model can only be as good as the data it learns from. Two questions matter: do we have enough, and is it representative?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54406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64008" cy="329184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612648" y="1920240"/>
            <a:ext cx="5376672" cy="566928"/>
          </a:xfrm>
          <a:prstGeom prst="rect">
            <a:avLst/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77240" y="1920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Quantity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63347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 networks are data-hungry. Too few examples and the model overfits or never learns the pattern.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666744"/>
            <a:ext cx="109728" cy="109728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1042416" y="3611880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More data usually beats a cleverer 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142232"/>
            <a:ext cx="109728" cy="109728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1042416" y="4087368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Each example here is a full CFD simulation — so data is precious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617720"/>
            <a:ext cx="109728" cy="109728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042416" y="4562856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Techniques like </a:t>
            </a:r>
            <a:r>
              <a:rPr lang="en-US" sz="110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augmentation</a:t>
            </a: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can stretch a small dataset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9632" y="1920240"/>
            <a:ext cx="54406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6199632" y="1920240"/>
            <a:ext cx="64008" cy="329184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6263640" y="1920240"/>
            <a:ext cx="5376672" cy="566928"/>
          </a:xfrm>
          <a:prstGeom prst="rect">
            <a:avLst/>
          </a:prstGeom>
          <a:solidFill>
            <a:srgbClr val="FCEBD4"/>
          </a:solidFill>
          <a:ln w="12700">
            <a:solidFill>
              <a:srgbClr val="FCEB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428232" y="1920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28232" y="263347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Garbage in, garbage out. The data must be clean and cover the conditions you'll face in practice.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73952" y="3666744"/>
            <a:ext cx="109728" cy="109728"/>
          </a:xfrm>
          <a:prstGeom prst="ellipse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693408" y="3611880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Remove corrupted or non-converged cases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73952" y="4142232"/>
            <a:ext cx="109728" cy="109728"/>
          </a:xfrm>
          <a:prstGeom prst="ellipse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693408" y="4087368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Cover the full range of inputs (don't leave gaps)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73952" y="4617720"/>
            <a:ext cx="109728" cy="109728"/>
          </a:xfrm>
          <a:prstGeom prst="ellipse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6693408" y="4562856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Consistent units and formats throughout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the hands-on, the preprocessing notebook is all about turning raw simulations into clean, well-scaled, representative data.</a:t>
            </a:r>
            <a:endParaRPr lang="en-US" sz="1200" dirty="0"/>
          </a:p>
        </p:txBody>
      </p:sp>
      <p:pic>
        <p:nvPicPr>
          <p:cNvPr id="926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MAE · RMSE · R²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81381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Measuring Success: Regression Metrics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Once trained, how good is the model? For predicting numbers, three metrics do the job. (yᵢ = true value, ŷᵢ = prediction, N = number of points.)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5495" y="1920240"/>
            <a:ext cx="35661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375495" y="1920240"/>
            <a:ext cx="64008" cy="320040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439503" y="1920240"/>
            <a:ext cx="3502152" cy="658368"/>
          </a:xfrm>
          <a:prstGeom prst="rect">
            <a:avLst/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604095" y="1965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4095" y="233172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Mean Absolute Error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558375" y="269748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E7DCFA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1604095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(1/N) Σ | yᵢ − ŷᵢ 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4095" y="3429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Average error size, in the output's own units (m/s). Treats all errors equally; easy to read.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04095" y="461772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604095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lower is better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4535" y="1920240"/>
            <a:ext cx="35661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5124535" y="1920240"/>
            <a:ext cx="64008" cy="320040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5188543" y="1920240"/>
            <a:ext cx="3502152" cy="658368"/>
          </a:xfrm>
          <a:prstGeom prst="rect">
            <a:avLst/>
          </a:prstGeom>
          <a:solidFill>
            <a:srgbClr val="FCEBD4"/>
          </a:solidFill>
          <a:ln w="12700">
            <a:solidFill>
              <a:srgbClr val="FCEB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353135" y="1965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RMSE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53135" y="233172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Root Mean Squared Error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7415" y="269748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FCEBD4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353135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√[ (1/N) Σ ( yᵢ − ŷᵢ )² 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53135" y="3429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 MAE but squares first, so large mistakes are penalized more heavily. Same units as output.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53135" y="461772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FCEBD4"/>
          </a:solidFill>
          <a:ln w="12700">
            <a:solidFill>
              <a:srgbClr val="FCEB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5353135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lower is better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914400" y="53492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 them together:  </a:t>
            </a: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RMSE flags whether you have any big misses, MAE gives the typical error.</a:t>
            </a:r>
            <a:endParaRPr lang="en-US" sz="1300" dirty="0"/>
          </a:p>
        </p:txBody>
      </p:sp>
      <p:pic>
        <p:nvPicPr>
          <p:cNvPr id="927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SETTINGS YOU CHOOSE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7955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Hyperparameters and Tuning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Parameters are learned by the model. Hyperparameters are the settings you choose before training — and getting them right is much of the craft.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54864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64008" cy="329184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22960" y="22037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Common hyperparameters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2715768"/>
            <a:ext cx="118872" cy="118872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069848" y="265176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Learning rate — the step size (most important)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" y="3246120"/>
            <a:ext cx="118872" cy="118872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1069848" y="318211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Batch size — how many examples per update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" y="3776472"/>
            <a:ext cx="118872" cy="118872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1069848" y="3712464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Number of epochs — how long to train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4306824"/>
            <a:ext cx="118872" cy="118872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069848" y="424281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Network size — layers and neurons / channels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" y="4837176"/>
            <a:ext cx="118872" cy="118872"/>
          </a:xfrm>
          <a:prstGeom prst="ellipse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1069848" y="477316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Regularization strength — how hard to fight overfitting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2057400"/>
            <a:ext cx="5349240" cy="3291840"/>
          </a:xfrm>
          <a:prstGeom prst="rect">
            <a:avLst/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537960" y="220370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practical tuning workflow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56248" y="2697480"/>
            <a:ext cx="384048" cy="384048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55624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26974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Start from sensible defaults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56248" y="3209544"/>
            <a:ext cx="384048" cy="384048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556248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0" y="32095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Change one thing at a time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56248" y="3721608"/>
            <a:ext cx="384048" cy="384048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6556248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37216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Judge on the validation set only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56248" y="4233672"/>
            <a:ext cx="384048" cy="384048"/>
          </a:xfrm>
          <a:prstGeom prst="ellipse">
            <a:avLst/>
          </a:prstGeom>
          <a:solidFill>
            <a:srgbClr val="8F55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556248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0" y="42336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Keep the settings that help; log every run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56248" y="4745736"/>
            <a:ext cx="384048" cy="384048"/>
          </a:xfrm>
          <a:prstGeom prst="ellipse">
            <a:avLst/>
          </a:prstGeom>
          <a:solidFill>
            <a:srgbClr val="C2185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6556248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32320" y="47457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Never tune on the test set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Automated search (grid, random, or Bayesian) can help.</a:t>
            </a:r>
            <a:endParaRPr lang="en-US" sz="1200" dirty="0"/>
          </a:p>
        </p:txBody>
      </p:sp>
      <p:pic>
        <p:nvPicPr>
          <p:cNvPr id="928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CHOOSING A NETWORK SHAPE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1381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 the Architecture to the Data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"Neural network" is a family, not a single design. The right shape depends on what your data looks like.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64008" cy="841248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77240" y="196596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Tables / vectors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77640" y="2139696"/>
            <a:ext cx="2468880" cy="493776"/>
          </a:xfrm>
          <a:prstGeom prst="roundRect">
            <a:avLst>
              <a:gd name="adj" fmla="val 14815"/>
            </a:avLst>
          </a:prstGeom>
          <a:solidFill>
            <a:srgbClr val="E7E1F0"/>
          </a:solidFill>
          <a:ln w="12700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977640" y="213969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MLP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1965960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plain fully-connected network; no special structure to exploit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98648"/>
            <a:ext cx="11091672" cy="841248"/>
          </a:xfrm>
          <a:prstGeom prst="rect">
            <a:avLst/>
          </a:prstGeom>
          <a:solidFill>
            <a:srgbClr val="E7DCFA"/>
          </a:solidFill>
          <a:ln w="1905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548640" y="2898648"/>
            <a:ext cx="64008" cy="841248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777240" y="289864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Images / fields / grids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77640" y="3072384"/>
            <a:ext cx="2468880" cy="493776"/>
          </a:xfrm>
          <a:prstGeom prst="roundRect">
            <a:avLst>
              <a:gd name="adj" fmla="val 14815"/>
            </a:avLst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3977640" y="307238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CNN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2898648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convolutions exploit local spatial patterns — our path to U-Net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74352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◀ our data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831336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548640" y="3831336"/>
            <a:ext cx="64008" cy="841248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777240" y="383133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Sequences / time series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977640" y="4005072"/>
            <a:ext cx="2468880" cy="493776"/>
          </a:xfrm>
          <a:prstGeom prst="roundRect">
            <a:avLst>
              <a:gd name="adj" fmla="val 14815"/>
            </a:avLst>
          </a:prstGeom>
          <a:solidFill>
            <a:srgbClr val="E7E1F0"/>
          </a:solidFill>
          <a:ln w="12700">
            <a:solidFill>
              <a:srgbClr val="E7E1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3977640" y="400507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RNN / Transformer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3831336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designed to handle order and long-range dependencies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764024"/>
            <a:ext cx="11091672" cy="841248"/>
          </a:xfrm>
          <a:prstGeom prst="rect">
            <a:avLst/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548640" y="4764024"/>
            <a:ext cx="64008" cy="841248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77240" y="476402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Compression / denoising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977640" y="4937760"/>
            <a:ext cx="24688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3977640" y="49377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Autoencoder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4764024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learns a compact code, then reconstructs the input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Our data is a stack of 2D fields — so we want a CNN. The next slides build one up from scratch, then extend it to the U-Net.</a:t>
            </a:r>
            <a:endParaRPr lang="en-US" sz="1250" dirty="0"/>
          </a:p>
        </p:txBody>
      </p:sp>
      <p:pic>
        <p:nvPicPr>
          <p:cNvPr id="929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SIMPLEST NETWORK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641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Multi-Layer Perceptron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MLP is the network we've drawn so far: every neuron connects to every neuron in the next layer. It's the foundation everything else builds 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6035040" cy="3657600"/>
          </a:xfrm>
          <a:prstGeom prst="rect">
            <a:avLst/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 flipV="1">
            <a:off x="1463040" y="2752344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463040" y="3319272"/>
            <a:ext cx="1463040" cy="0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463040" y="3319272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463040" y="3319272"/>
            <a:ext cx="1463040" cy="1133856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463040" y="3319272"/>
            <a:ext cx="1463040" cy="1700784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 flipV="1">
            <a:off x="1463040" y="2752344"/>
            <a:ext cx="1463040" cy="1133856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 flipV="1">
            <a:off x="1463040" y="3319272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1463040" y="3886200"/>
            <a:ext cx="1463040" cy="0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1463040" y="3886200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1463040" y="3886200"/>
            <a:ext cx="1463040" cy="1133856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 flipV="1">
            <a:off x="1463040" y="2752344"/>
            <a:ext cx="1463040" cy="1700784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 flipV="1">
            <a:off x="1463040" y="3319272"/>
            <a:ext cx="1463040" cy="1133856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 flipV="1">
            <a:off x="1463040" y="3886200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 flipV="1">
            <a:off x="1463040" y="4453128"/>
            <a:ext cx="1463040" cy="0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1463040" y="4453128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2926080" y="2752344"/>
            <a:ext cx="1463040" cy="0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2926080" y="2752344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2926080" y="2752344"/>
            <a:ext cx="1463040" cy="1133856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2926080" y="2752344"/>
            <a:ext cx="1463040" cy="1700784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2926080" y="2752344"/>
            <a:ext cx="1463040" cy="2267712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 flipV="1">
            <a:off x="2926080" y="2752344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2926080" y="3319272"/>
            <a:ext cx="1463040" cy="0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2926080" y="3319272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2926080" y="3319272"/>
            <a:ext cx="1463040" cy="1133856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2926080" y="3319272"/>
            <a:ext cx="1463040" cy="1700784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 flipV="1">
            <a:off x="2926080" y="2752344"/>
            <a:ext cx="1463040" cy="1133856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 flipV="1">
            <a:off x="2926080" y="3319272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2926080" y="3886200"/>
            <a:ext cx="1463040" cy="0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2926080" y="3886200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>
            <a:off x="2926080" y="3886200"/>
            <a:ext cx="1463040" cy="1133856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 flipV="1">
            <a:off x="2926080" y="2752344"/>
            <a:ext cx="1463040" cy="1700784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 flipV="1">
            <a:off x="2926080" y="3319272"/>
            <a:ext cx="1463040" cy="1133856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 flipV="1">
            <a:off x="2926080" y="3886200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>
            <a:off x="2926080" y="4453128"/>
            <a:ext cx="1463040" cy="0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Shape 43"/>
          <p:cNvSpPr/>
          <p:nvPr/>
        </p:nvSpPr>
        <p:spPr>
          <a:xfrm>
            <a:off x="2926080" y="4453128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Shape 44"/>
          <p:cNvSpPr/>
          <p:nvPr/>
        </p:nvSpPr>
        <p:spPr>
          <a:xfrm flipV="1">
            <a:off x="2926080" y="2752344"/>
            <a:ext cx="1463040" cy="2267712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Shape 45"/>
          <p:cNvSpPr/>
          <p:nvPr/>
        </p:nvSpPr>
        <p:spPr>
          <a:xfrm flipV="1">
            <a:off x="2926080" y="3319272"/>
            <a:ext cx="1463040" cy="1700784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Shape 46"/>
          <p:cNvSpPr/>
          <p:nvPr/>
        </p:nvSpPr>
        <p:spPr>
          <a:xfrm flipV="1">
            <a:off x="2926080" y="3886200"/>
            <a:ext cx="1463040" cy="1133856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Shape 47"/>
          <p:cNvSpPr/>
          <p:nvPr/>
        </p:nvSpPr>
        <p:spPr>
          <a:xfrm flipV="1">
            <a:off x="2926080" y="4453128"/>
            <a:ext cx="1463040" cy="566928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Shape 48"/>
          <p:cNvSpPr/>
          <p:nvPr/>
        </p:nvSpPr>
        <p:spPr>
          <a:xfrm>
            <a:off x="2926080" y="5020056"/>
            <a:ext cx="1463040" cy="0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Shape 49"/>
          <p:cNvSpPr/>
          <p:nvPr/>
        </p:nvSpPr>
        <p:spPr>
          <a:xfrm>
            <a:off x="4389120" y="2752344"/>
            <a:ext cx="1280160" cy="850392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Shape 50"/>
          <p:cNvSpPr/>
          <p:nvPr/>
        </p:nvSpPr>
        <p:spPr>
          <a:xfrm>
            <a:off x="4389120" y="2752344"/>
            <a:ext cx="1280160" cy="1417320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Shape 51"/>
          <p:cNvSpPr/>
          <p:nvPr/>
        </p:nvSpPr>
        <p:spPr>
          <a:xfrm>
            <a:off x="4389120" y="3319272"/>
            <a:ext cx="1280160" cy="283464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Shape 52"/>
          <p:cNvSpPr/>
          <p:nvPr/>
        </p:nvSpPr>
        <p:spPr>
          <a:xfrm>
            <a:off x="4389120" y="3319272"/>
            <a:ext cx="1280160" cy="850392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Shape 53"/>
          <p:cNvSpPr/>
          <p:nvPr/>
        </p:nvSpPr>
        <p:spPr>
          <a:xfrm flipV="1">
            <a:off x="4389120" y="3602736"/>
            <a:ext cx="1280160" cy="283464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Shape 54"/>
          <p:cNvSpPr/>
          <p:nvPr/>
        </p:nvSpPr>
        <p:spPr>
          <a:xfrm>
            <a:off x="4389120" y="3886200"/>
            <a:ext cx="1280160" cy="283464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Shape 55"/>
          <p:cNvSpPr/>
          <p:nvPr/>
        </p:nvSpPr>
        <p:spPr>
          <a:xfrm flipV="1">
            <a:off x="4389120" y="3602736"/>
            <a:ext cx="1280160" cy="850392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Shape 56"/>
          <p:cNvSpPr/>
          <p:nvPr/>
        </p:nvSpPr>
        <p:spPr>
          <a:xfrm flipV="1">
            <a:off x="4389120" y="4169664"/>
            <a:ext cx="1280160" cy="283464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9" name="Shape 57"/>
          <p:cNvSpPr/>
          <p:nvPr/>
        </p:nvSpPr>
        <p:spPr>
          <a:xfrm flipV="1">
            <a:off x="4389120" y="3602736"/>
            <a:ext cx="1280160" cy="1417320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Shape 58"/>
          <p:cNvSpPr/>
          <p:nvPr/>
        </p:nvSpPr>
        <p:spPr>
          <a:xfrm flipV="1">
            <a:off x="4389120" y="4169664"/>
            <a:ext cx="1280160" cy="850392"/>
          </a:xfrm>
          <a:prstGeom prst="line">
            <a:avLst/>
          </a:prstGeom>
          <a:noFill/>
          <a:ln w="508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1" name="Shape 59"/>
          <p:cNvSpPr/>
          <p:nvPr/>
        </p:nvSpPr>
        <p:spPr>
          <a:xfrm>
            <a:off x="1325880" y="3182112"/>
            <a:ext cx="274320" cy="274320"/>
          </a:xfrm>
          <a:prstGeom prst="ellipse">
            <a:avLst/>
          </a:prstGeom>
          <a:solidFill>
            <a:srgbClr val="6B36C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Shape 60"/>
          <p:cNvSpPr/>
          <p:nvPr/>
        </p:nvSpPr>
        <p:spPr>
          <a:xfrm>
            <a:off x="1325880" y="3749040"/>
            <a:ext cx="274320" cy="274320"/>
          </a:xfrm>
          <a:prstGeom prst="ellipse">
            <a:avLst/>
          </a:prstGeom>
          <a:solidFill>
            <a:srgbClr val="6B36C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3" name="Shape 61"/>
          <p:cNvSpPr/>
          <p:nvPr/>
        </p:nvSpPr>
        <p:spPr>
          <a:xfrm>
            <a:off x="1325880" y="4315968"/>
            <a:ext cx="274320" cy="274320"/>
          </a:xfrm>
          <a:prstGeom prst="ellipse">
            <a:avLst/>
          </a:prstGeom>
          <a:solidFill>
            <a:srgbClr val="6B36C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Shape 62"/>
          <p:cNvSpPr/>
          <p:nvPr/>
        </p:nvSpPr>
        <p:spPr>
          <a:xfrm>
            <a:off x="2788920" y="2615184"/>
            <a:ext cx="274320" cy="274320"/>
          </a:xfrm>
          <a:prstGeom prst="ellipse">
            <a:avLst/>
          </a:prstGeom>
          <a:solidFill>
            <a:srgbClr val="8F55E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5" name="Shape 63"/>
          <p:cNvSpPr/>
          <p:nvPr/>
        </p:nvSpPr>
        <p:spPr>
          <a:xfrm>
            <a:off x="2788920" y="3182112"/>
            <a:ext cx="274320" cy="274320"/>
          </a:xfrm>
          <a:prstGeom prst="ellipse">
            <a:avLst/>
          </a:prstGeom>
          <a:solidFill>
            <a:srgbClr val="8F55E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6" name="Shape 64"/>
          <p:cNvSpPr/>
          <p:nvPr/>
        </p:nvSpPr>
        <p:spPr>
          <a:xfrm>
            <a:off x="2788920" y="3749040"/>
            <a:ext cx="274320" cy="274320"/>
          </a:xfrm>
          <a:prstGeom prst="ellipse">
            <a:avLst/>
          </a:prstGeom>
          <a:solidFill>
            <a:srgbClr val="8F55E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7" name="Shape 65"/>
          <p:cNvSpPr/>
          <p:nvPr/>
        </p:nvSpPr>
        <p:spPr>
          <a:xfrm>
            <a:off x="2788920" y="4315968"/>
            <a:ext cx="274320" cy="274320"/>
          </a:xfrm>
          <a:prstGeom prst="ellipse">
            <a:avLst/>
          </a:prstGeom>
          <a:solidFill>
            <a:srgbClr val="8F55E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8" name="Shape 66"/>
          <p:cNvSpPr/>
          <p:nvPr/>
        </p:nvSpPr>
        <p:spPr>
          <a:xfrm>
            <a:off x="2788920" y="4882896"/>
            <a:ext cx="274320" cy="274320"/>
          </a:xfrm>
          <a:prstGeom prst="ellipse">
            <a:avLst/>
          </a:prstGeom>
          <a:solidFill>
            <a:srgbClr val="8F55E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9" name="Shape 67"/>
          <p:cNvSpPr/>
          <p:nvPr/>
        </p:nvSpPr>
        <p:spPr>
          <a:xfrm>
            <a:off x="4251960" y="2615184"/>
            <a:ext cx="274320" cy="274320"/>
          </a:xfrm>
          <a:prstGeom prst="ellipse">
            <a:avLst/>
          </a:prstGeom>
          <a:solidFill>
            <a:srgbClr val="8F55E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0" name="Shape 68"/>
          <p:cNvSpPr/>
          <p:nvPr/>
        </p:nvSpPr>
        <p:spPr>
          <a:xfrm>
            <a:off x="4251960" y="3182112"/>
            <a:ext cx="274320" cy="274320"/>
          </a:xfrm>
          <a:prstGeom prst="ellipse">
            <a:avLst/>
          </a:prstGeom>
          <a:solidFill>
            <a:srgbClr val="8F55E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1" name="Shape 69"/>
          <p:cNvSpPr/>
          <p:nvPr/>
        </p:nvSpPr>
        <p:spPr>
          <a:xfrm>
            <a:off x="4251960" y="3749040"/>
            <a:ext cx="274320" cy="274320"/>
          </a:xfrm>
          <a:prstGeom prst="ellipse">
            <a:avLst/>
          </a:prstGeom>
          <a:solidFill>
            <a:srgbClr val="8F55E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2" name="Shape 70"/>
          <p:cNvSpPr/>
          <p:nvPr/>
        </p:nvSpPr>
        <p:spPr>
          <a:xfrm>
            <a:off x="4251960" y="4315968"/>
            <a:ext cx="274320" cy="274320"/>
          </a:xfrm>
          <a:prstGeom prst="ellipse">
            <a:avLst/>
          </a:prstGeom>
          <a:solidFill>
            <a:srgbClr val="8F55E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3" name="Shape 71"/>
          <p:cNvSpPr/>
          <p:nvPr/>
        </p:nvSpPr>
        <p:spPr>
          <a:xfrm>
            <a:off x="4251960" y="4882896"/>
            <a:ext cx="274320" cy="274320"/>
          </a:xfrm>
          <a:prstGeom prst="ellipse">
            <a:avLst/>
          </a:prstGeom>
          <a:solidFill>
            <a:srgbClr val="8F55E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4" name="Shape 72"/>
          <p:cNvSpPr/>
          <p:nvPr/>
        </p:nvSpPr>
        <p:spPr>
          <a:xfrm>
            <a:off x="5532120" y="3465576"/>
            <a:ext cx="274320" cy="274320"/>
          </a:xfrm>
          <a:prstGeom prst="ellipse">
            <a:avLst/>
          </a:prstGeom>
          <a:solidFill>
            <a:srgbClr val="7BB834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5" name="Shape 73"/>
          <p:cNvSpPr/>
          <p:nvPr/>
        </p:nvSpPr>
        <p:spPr>
          <a:xfrm>
            <a:off x="5532120" y="4032504"/>
            <a:ext cx="274320" cy="274320"/>
          </a:xfrm>
          <a:prstGeom prst="ellipse">
            <a:avLst/>
          </a:prstGeom>
          <a:solidFill>
            <a:srgbClr val="7BB834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6" name="Text 74"/>
          <p:cNvSpPr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every neuron connects to every neuron in the next layer ("fully connected")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812280" y="2011680"/>
            <a:ext cx="482803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8" name="Shape 76"/>
          <p:cNvSpPr/>
          <p:nvPr/>
        </p:nvSpPr>
        <p:spPr>
          <a:xfrm>
            <a:off x="6812280" y="2011680"/>
            <a:ext cx="64008" cy="173736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9" name="Text 77"/>
          <p:cNvSpPr/>
          <p:nvPr/>
        </p:nvSpPr>
        <p:spPr>
          <a:xfrm>
            <a:off x="7040880" y="213055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Good for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7040880" y="2468880"/>
            <a:ext cx="4416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Table-shaped data 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inputs have no special spatial or sequential structure — material properties, design parameters, sensor readings.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812280" y="3931920"/>
            <a:ext cx="482803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2" name="Shape 80"/>
          <p:cNvSpPr/>
          <p:nvPr/>
        </p:nvSpPr>
        <p:spPr>
          <a:xfrm>
            <a:off x="6812280" y="3931920"/>
            <a:ext cx="64008" cy="17373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3" name="Text 81"/>
          <p:cNvSpPr/>
          <p:nvPr/>
        </p:nvSpPr>
        <p:spPr>
          <a:xfrm>
            <a:off x="7040880" y="4050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Struggles with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7040880" y="4389120"/>
            <a:ext cx="4416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Images. Flattening a grid into a list loses spatial layout and needs far too many weights — exactly the problem we hit next, which the CNN solves.</a:t>
            </a:r>
            <a:endParaRPr lang="en-US" sz="1200" dirty="0"/>
          </a:p>
        </p:txBody>
      </p:sp>
      <p:pic>
        <p:nvPicPr>
          <p:cNvPr id="930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MOTIVATING CONVOLUTIONS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Images Need a Special Network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64008" cy="36576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naïve approach breaks down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2560320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225296" y="2560320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444752" y="2560320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1664208" y="2560320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1005840" y="2779776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1225296" y="2779776"/>
            <a:ext cx="219456" cy="219456"/>
          </a:xfrm>
          <a:prstGeom prst="rect">
            <a:avLst/>
          </a:prstGeom>
          <a:solidFill>
            <a:srgbClr val="8F55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1444752" y="2779776"/>
            <a:ext cx="219456" cy="219456"/>
          </a:xfrm>
          <a:prstGeom prst="rect">
            <a:avLst/>
          </a:prstGeom>
          <a:solidFill>
            <a:srgbClr val="8F55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1664208" y="2779776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1005840" y="2999232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1225296" y="2999232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1444752" y="2999232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1664208" y="2999232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1005840" y="3218688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1225296" y="3218688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1444752" y="3218688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1664208" y="3218688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86868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small image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(grid of pixels)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66544" y="2999232"/>
            <a:ext cx="640080" cy="0"/>
          </a:xfrm>
          <a:prstGeom prst="line">
            <a:avLst/>
          </a:prstGeom>
          <a:noFill/>
          <a:ln w="2540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2935224" y="2560320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2935224" y="2779776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2935224" y="2999232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2935224" y="3218688"/>
            <a:ext cx="219456" cy="219456"/>
          </a:xfrm>
          <a:prstGeom prst="rect">
            <a:avLst/>
          </a:prstGeom>
          <a:solidFill>
            <a:srgbClr val="8F55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2935224" y="3438144"/>
            <a:ext cx="219456" cy="219456"/>
          </a:xfrm>
          <a:prstGeom prst="rect">
            <a:avLst/>
          </a:prstGeom>
          <a:solidFill>
            <a:srgbClr val="8F55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2935224" y="3657600"/>
            <a:ext cx="219456" cy="219456"/>
          </a:xfrm>
          <a:prstGeom prst="rect">
            <a:avLst/>
          </a:prstGeom>
          <a:solidFill>
            <a:srgbClr val="E7E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3291840" y="26700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flattened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into a list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42976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problems:  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(1) flattening throws away which pixels are </a:t>
            </a:r>
            <a:r>
              <a:rPr lang="en-US" sz="12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 to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which — the spatial layout is lost. (2) A full-size image has millions of pixels, so connecting every pixel to every neuron needs an impossible number of weights.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1783080"/>
            <a:ext cx="5303520" cy="3657600"/>
          </a:xfrm>
          <a:prstGeom prst="rect">
            <a:avLst/>
          </a:prstGeom>
          <a:solidFill>
            <a:srgbClr val="EDF8DA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6309360" y="1783080"/>
            <a:ext cx="64008" cy="365760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key insight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629400" y="2569464"/>
            <a:ext cx="146304" cy="146304"/>
          </a:xfrm>
          <a:prstGeom prst="ellipse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6903720" y="2514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Patterns are local. An edge, a corner, or an opening is defined by a small neighborhood of nearby pixels.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629400" y="3529584"/>
            <a:ext cx="146304" cy="146304"/>
          </a:xfrm>
          <a:prstGeom prst="ellipse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6903720" y="34747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Patterns repeat. The same edge detector is useful in every part of the image, so we can reuse it everywhere.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629400" y="4489704"/>
            <a:ext cx="146304" cy="146304"/>
          </a:xfrm>
          <a:prstGeom prst="ellipse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6903720" y="44348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So: scan a small detector across the image instead of wiring every pixel to every neuron.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583680" y="4983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This is exactly what a convolution does.</a:t>
            </a:r>
            <a:endParaRPr lang="en-US" sz="1300" dirty="0"/>
          </a:p>
        </p:txBody>
      </p:sp>
      <p:pic>
        <p:nvPicPr>
          <p:cNvPr id="931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KERNELS / FILTERS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81381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Convolution: Sliding a Small Filter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kernel (or filter) is a tiny grid of weights. We slide it across the image; at each spot it multiplies the overlapping pixels and sums them into one output number.</a:t>
            </a:r>
            <a:endParaRPr lang="en-US" sz="1300" dirty="0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0559963-D7EB-3D2C-A5AF-D8F838244F6B}"/>
              </a:ext>
            </a:extLst>
          </p:cNvPr>
          <p:cNvGrpSpPr/>
          <p:nvPr/>
        </p:nvGrpSpPr>
        <p:grpSpPr>
          <a:xfrm>
            <a:off x="6860492" y="1936496"/>
            <a:ext cx="4660948" cy="2002533"/>
            <a:chOff x="914400" y="2148840"/>
            <a:chExt cx="6108192" cy="2624328"/>
          </a:xfrm>
        </p:grpSpPr>
        <p:sp>
          <p:nvSpPr>
            <p:cNvPr id="10" name="Text 8"/>
            <p:cNvSpPr/>
            <p:nvPr/>
          </p:nvSpPr>
          <p:spPr>
            <a:xfrm>
              <a:off x="914400" y="2148840"/>
              <a:ext cx="230428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F2683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Input image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914400" y="2468880"/>
              <a:ext cx="384048" cy="384048"/>
            </a:xfrm>
            <a:prstGeom prst="rect">
              <a:avLst/>
            </a:prstGeom>
            <a:solidFill>
              <a:srgbClr val="E7DCFA"/>
            </a:solidFill>
            <a:ln w="190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Shape 10"/>
            <p:cNvSpPr/>
            <p:nvPr/>
          </p:nvSpPr>
          <p:spPr>
            <a:xfrm>
              <a:off x="1298448" y="2468880"/>
              <a:ext cx="384048" cy="384048"/>
            </a:xfrm>
            <a:prstGeom prst="rect">
              <a:avLst/>
            </a:prstGeom>
            <a:solidFill>
              <a:srgbClr val="E7DCFA"/>
            </a:solidFill>
            <a:ln w="190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Shape 11"/>
            <p:cNvSpPr/>
            <p:nvPr/>
          </p:nvSpPr>
          <p:spPr>
            <a:xfrm>
              <a:off x="1682496" y="2468880"/>
              <a:ext cx="384048" cy="384048"/>
            </a:xfrm>
            <a:prstGeom prst="rect">
              <a:avLst/>
            </a:prstGeom>
            <a:solidFill>
              <a:srgbClr val="E7DCFA"/>
            </a:solidFill>
            <a:ln w="190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Shape 12"/>
            <p:cNvSpPr/>
            <p:nvPr/>
          </p:nvSpPr>
          <p:spPr>
            <a:xfrm>
              <a:off x="2066544" y="2468880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Shape 13"/>
            <p:cNvSpPr/>
            <p:nvPr/>
          </p:nvSpPr>
          <p:spPr>
            <a:xfrm>
              <a:off x="2450592" y="2468880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Shape 14"/>
            <p:cNvSpPr/>
            <p:nvPr/>
          </p:nvSpPr>
          <p:spPr>
            <a:xfrm>
              <a:off x="2834640" y="2468880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Shape 15"/>
            <p:cNvSpPr/>
            <p:nvPr/>
          </p:nvSpPr>
          <p:spPr>
            <a:xfrm>
              <a:off x="914400" y="2852928"/>
              <a:ext cx="384048" cy="384048"/>
            </a:xfrm>
            <a:prstGeom prst="rect">
              <a:avLst/>
            </a:prstGeom>
            <a:solidFill>
              <a:srgbClr val="E7DCFA"/>
            </a:solidFill>
            <a:ln w="190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Shape 16"/>
            <p:cNvSpPr/>
            <p:nvPr/>
          </p:nvSpPr>
          <p:spPr>
            <a:xfrm>
              <a:off x="1298448" y="2852928"/>
              <a:ext cx="384048" cy="384048"/>
            </a:xfrm>
            <a:prstGeom prst="rect">
              <a:avLst/>
            </a:prstGeom>
            <a:solidFill>
              <a:srgbClr val="E7DCFA"/>
            </a:solidFill>
            <a:ln w="190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Shape 17"/>
            <p:cNvSpPr/>
            <p:nvPr/>
          </p:nvSpPr>
          <p:spPr>
            <a:xfrm>
              <a:off x="1682496" y="2852928"/>
              <a:ext cx="384048" cy="384048"/>
            </a:xfrm>
            <a:prstGeom prst="rect">
              <a:avLst/>
            </a:prstGeom>
            <a:solidFill>
              <a:srgbClr val="E7DCFA"/>
            </a:solidFill>
            <a:ln w="190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Shape 18"/>
            <p:cNvSpPr/>
            <p:nvPr/>
          </p:nvSpPr>
          <p:spPr>
            <a:xfrm>
              <a:off x="2066544" y="2852928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Shape 19"/>
            <p:cNvSpPr/>
            <p:nvPr/>
          </p:nvSpPr>
          <p:spPr>
            <a:xfrm>
              <a:off x="2450592" y="2852928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Shape 20"/>
            <p:cNvSpPr/>
            <p:nvPr/>
          </p:nvSpPr>
          <p:spPr>
            <a:xfrm>
              <a:off x="2834640" y="2852928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Shape 21"/>
            <p:cNvSpPr/>
            <p:nvPr/>
          </p:nvSpPr>
          <p:spPr>
            <a:xfrm>
              <a:off x="914400" y="3236976"/>
              <a:ext cx="384048" cy="384048"/>
            </a:xfrm>
            <a:prstGeom prst="rect">
              <a:avLst/>
            </a:prstGeom>
            <a:solidFill>
              <a:srgbClr val="E7DCFA"/>
            </a:solidFill>
            <a:ln w="190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Shape 22"/>
            <p:cNvSpPr/>
            <p:nvPr/>
          </p:nvSpPr>
          <p:spPr>
            <a:xfrm>
              <a:off x="1298448" y="3236976"/>
              <a:ext cx="384048" cy="384048"/>
            </a:xfrm>
            <a:prstGeom prst="rect">
              <a:avLst/>
            </a:prstGeom>
            <a:solidFill>
              <a:srgbClr val="E7DCFA"/>
            </a:solidFill>
            <a:ln w="190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Shape 23"/>
            <p:cNvSpPr/>
            <p:nvPr/>
          </p:nvSpPr>
          <p:spPr>
            <a:xfrm>
              <a:off x="1682496" y="3236976"/>
              <a:ext cx="384048" cy="384048"/>
            </a:xfrm>
            <a:prstGeom prst="rect">
              <a:avLst/>
            </a:prstGeom>
            <a:solidFill>
              <a:srgbClr val="E7DCFA"/>
            </a:solidFill>
            <a:ln w="190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Shape 24"/>
            <p:cNvSpPr/>
            <p:nvPr/>
          </p:nvSpPr>
          <p:spPr>
            <a:xfrm>
              <a:off x="2066544" y="3236976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Shape 25"/>
            <p:cNvSpPr/>
            <p:nvPr/>
          </p:nvSpPr>
          <p:spPr>
            <a:xfrm>
              <a:off x="2450592" y="3236976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Shape 26"/>
            <p:cNvSpPr/>
            <p:nvPr/>
          </p:nvSpPr>
          <p:spPr>
            <a:xfrm>
              <a:off x="2834640" y="3236976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Shape 27"/>
            <p:cNvSpPr/>
            <p:nvPr/>
          </p:nvSpPr>
          <p:spPr>
            <a:xfrm>
              <a:off x="914400" y="3621024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Shape 28"/>
            <p:cNvSpPr/>
            <p:nvPr/>
          </p:nvSpPr>
          <p:spPr>
            <a:xfrm>
              <a:off x="1298448" y="3621024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Shape 29"/>
            <p:cNvSpPr/>
            <p:nvPr/>
          </p:nvSpPr>
          <p:spPr>
            <a:xfrm>
              <a:off x="1682496" y="3621024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Shape 30"/>
            <p:cNvSpPr/>
            <p:nvPr/>
          </p:nvSpPr>
          <p:spPr>
            <a:xfrm>
              <a:off x="2066544" y="3621024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Shape 31"/>
            <p:cNvSpPr/>
            <p:nvPr/>
          </p:nvSpPr>
          <p:spPr>
            <a:xfrm>
              <a:off x="2450592" y="3621024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Shape 32"/>
            <p:cNvSpPr/>
            <p:nvPr/>
          </p:nvSpPr>
          <p:spPr>
            <a:xfrm>
              <a:off x="2834640" y="3621024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Shape 33"/>
            <p:cNvSpPr/>
            <p:nvPr/>
          </p:nvSpPr>
          <p:spPr>
            <a:xfrm>
              <a:off x="914400" y="4005072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Shape 34"/>
            <p:cNvSpPr/>
            <p:nvPr/>
          </p:nvSpPr>
          <p:spPr>
            <a:xfrm>
              <a:off x="1298448" y="4005072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Shape 35"/>
            <p:cNvSpPr/>
            <p:nvPr/>
          </p:nvSpPr>
          <p:spPr>
            <a:xfrm>
              <a:off x="1682496" y="4005072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Shape 36"/>
            <p:cNvSpPr/>
            <p:nvPr/>
          </p:nvSpPr>
          <p:spPr>
            <a:xfrm>
              <a:off x="2066544" y="4005072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Shape 37"/>
            <p:cNvSpPr/>
            <p:nvPr/>
          </p:nvSpPr>
          <p:spPr>
            <a:xfrm>
              <a:off x="2450592" y="4005072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Shape 38"/>
            <p:cNvSpPr/>
            <p:nvPr/>
          </p:nvSpPr>
          <p:spPr>
            <a:xfrm>
              <a:off x="2834640" y="4005072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Shape 39"/>
            <p:cNvSpPr/>
            <p:nvPr/>
          </p:nvSpPr>
          <p:spPr>
            <a:xfrm>
              <a:off x="914400" y="4389120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Shape 40"/>
            <p:cNvSpPr/>
            <p:nvPr/>
          </p:nvSpPr>
          <p:spPr>
            <a:xfrm>
              <a:off x="1298448" y="4389120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Shape 41"/>
            <p:cNvSpPr/>
            <p:nvPr/>
          </p:nvSpPr>
          <p:spPr>
            <a:xfrm>
              <a:off x="1682496" y="4389120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Shape 42"/>
            <p:cNvSpPr/>
            <p:nvPr/>
          </p:nvSpPr>
          <p:spPr>
            <a:xfrm>
              <a:off x="2066544" y="4389120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Shape 43"/>
            <p:cNvSpPr/>
            <p:nvPr/>
          </p:nvSpPr>
          <p:spPr>
            <a:xfrm>
              <a:off x="2450592" y="4389120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Shape 44"/>
            <p:cNvSpPr/>
            <p:nvPr/>
          </p:nvSpPr>
          <p:spPr>
            <a:xfrm>
              <a:off x="2834640" y="4389120"/>
              <a:ext cx="384048" cy="384048"/>
            </a:xfrm>
            <a:prstGeom prst="rect">
              <a:avLst/>
            </a:prstGeom>
            <a:solidFill>
              <a:srgbClr val="F4F0F9"/>
            </a:solidFill>
            <a:ln w="9525">
              <a:solidFill>
                <a:srgbClr val="D9D2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Shape 45"/>
            <p:cNvSpPr/>
            <p:nvPr/>
          </p:nvSpPr>
          <p:spPr>
            <a:xfrm>
              <a:off x="914400" y="2468880"/>
              <a:ext cx="1152144" cy="1152144"/>
            </a:xfrm>
            <a:prstGeom prst="rect">
              <a:avLst/>
            </a:prstGeom>
            <a:ln w="3175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Text 46"/>
            <p:cNvSpPr/>
            <p:nvPr/>
          </p:nvSpPr>
          <p:spPr>
            <a:xfrm>
              <a:off x="3950208" y="2514600"/>
              <a:ext cx="115214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8F55E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Kernel (filter) (3×3)</a:t>
              </a:r>
              <a:endParaRPr lang="en-US" sz="11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041648" y="2834640"/>
              <a:ext cx="384048" cy="384048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Text 48"/>
            <p:cNvSpPr/>
            <p:nvPr/>
          </p:nvSpPr>
          <p:spPr>
            <a:xfrm>
              <a:off x="4041648" y="283464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55E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4425696" y="2834640"/>
              <a:ext cx="384048" cy="384048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Text 50"/>
            <p:cNvSpPr/>
            <p:nvPr/>
          </p:nvSpPr>
          <p:spPr>
            <a:xfrm>
              <a:off x="4425696" y="283464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55E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</a:t>
              </a:r>
              <a:endParaRPr lang="en-US" sz="12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4809744" y="2834640"/>
              <a:ext cx="384048" cy="384048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Text 52"/>
            <p:cNvSpPr/>
            <p:nvPr/>
          </p:nvSpPr>
          <p:spPr>
            <a:xfrm>
              <a:off x="4809744" y="283464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55E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-1</a:t>
              </a:r>
              <a:endParaRPr lang="en-US" sz="12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4041648" y="3218688"/>
              <a:ext cx="384048" cy="384048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Text 54"/>
            <p:cNvSpPr/>
            <p:nvPr/>
          </p:nvSpPr>
          <p:spPr>
            <a:xfrm>
              <a:off x="4041648" y="321868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55E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4425696" y="3218688"/>
              <a:ext cx="384048" cy="384048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Text 56"/>
            <p:cNvSpPr/>
            <p:nvPr/>
          </p:nvSpPr>
          <p:spPr>
            <a:xfrm>
              <a:off x="4425696" y="321868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55E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</a:t>
              </a:r>
              <a:endParaRPr lang="en-US" sz="12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4809744" y="3218688"/>
              <a:ext cx="384048" cy="384048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Text 58"/>
            <p:cNvSpPr/>
            <p:nvPr/>
          </p:nvSpPr>
          <p:spPr>
            <a:xfrm>
              <a:off x="4809744" y="321868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55E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-1</a:t>
              </a:r>
              <a:endParaRPr lang="en-US" sz="12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4041648" y="3602736"/>
              <a:ext cx="384048" cy="384048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Text 60"/>
            <p:cNvSpPr/>
            <p:nvPr/>
          </p:nvSpPr>
          <p:spPr>
            <a:xfrm>
              <a:off x="4041648" y="36027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55E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425696" y="3602736"/>
              <a:ext cx="384048" cy="384048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Text 62"/>
            <p:cNvSpPr/>
            <p:nvPr/>
          </p:nvSpPr>
          <p:spPr>
            <a:xfrm>
              <a:off x="4425696" y="36027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55E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</a:t>
              </a:r>
              <a:endParaRPr lang="en-US" sz="12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4809744" y="3602736"/>
              <a:ext cx="384048" cy="384048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Text 64"/>
            <p:cNvSpPr/>
            <p:nvPr/>
          </p:nvSpPr>
          <p:spPr>
            <a:xfrm>
              <a:off x="4809744" y="36027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8F55E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-1</a:t>
              </a:r>
              <a:endParaRPr lang="en-US" sz="12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5422392" y="3383280"/>
              <a:ext cx="731520" cy="0"/>
            </a:xfrm>
            <a:prstGeom prst="line">
              <a:avLst/>
            </a:prstGeom>
            <a:noFill/>
            <a:ln w="27940">
              <a:solidFill>
                <a:srgbClr val="4F268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Text 66"/>
            <p:cNvSpPr/>
            <p:nvPr/>
          </p:nvSpPr>
          <p:spPr>
            <a:xfrm>
              <a:off x="5330952" y="3703320"/>
              <a:ext cx="914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7E708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multiply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i="1" dirty="0">
                  <a:solidFill>
                    <a:srgbClr val="7E708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+ sum</a:t>
              </a:r>
              <a:endParaRPr lang="en-US" sz="100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6291072" y="3154680"/>
              <a:ext cx="457200" cy="457200"/>
            </a:xfrm>
            <a:prstGeom prst="rect">
              <a:avLst/>
            </a:prstGeom>
            <a:solidFill>
              <a:srgbClr val="F0A757"/>
            </a:solidFill>
            <a:ln w="19050">
              <a:solidFill>
                <a:srgbClr val="C77F2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Text 68"/>
            <p:cNvSpPr/>
            <p:nvPr/>
          </p:nvSpPr>
          <p:spPr>
            <a:xfrm>
              <a:off x="6016752" y="3657600"/>
              <a:ext cx="10058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 i="1" dirty="0">
                  <a:solidFill>
                    <a:srgbClr val="C77F2E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one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i="1" dirty="0">
                  <a:solidFill>
                    <a:srgbClr val="C77F2E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output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i="1" dirty="0">
                  <a:solidFill>
                    <a:srgbClr val="C77F2E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value</a:t>
              </a:r>
              <a:endParaRPr lang="en-US" sz="950" dirty="0"/>
            </a:p>
          </p:txBody>
        </p:sp>
      </p:grpSp>
      <p:sp>
        <p:nvSpPr>
          <p:cNvPr id="71" name="Shape 69"/>
          <p:cNvSpPr/>
          <p:nvPr/>
        </p:nvSpPr>
        <p:spPr>
          <a:xfrm>
            <a:off x="548640" y="4937760"/>
            <a:ext cx="35661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2" name="Shape 70"/>
          <p:cNvSpPr/>
          <p:nvPr/>
        </p:nvSpPr>
        <p:spPr>
          <a:xfrm>
            <a:off x="548640" y="4937760"/>
            <a:ext cx="64008" cy="123444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3" name="Text 71"/>
          <p:cNvSpPr/>
          <p:nvPr/>
        </p:nvSpPr>
        <p:spPr>
          <a:xfrm>
            <a:off x="749808" y="5065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Slide everywhere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749808" y="5394960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Move the window one step at a time across the whole image to produce a full grid of outputs.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297680" y="4937760"/>
            <a:ext cx="35661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6" name="Shape 74"/>
          <p:cNvSpPr/>
          <p:nvPr/>
        </p:nvSpPr>
        <p:spPr>
          <a:xfrm>
            <a:off x="4297680" y="4937760"/>
            <a:ext cx="64008" cy="123444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7" name="Text 75"/>
          <p:cNvSpPr/>
          <p:nvPr/>
        </p:nvSpPr>
        <p:spPr>
          <a:xfrm>
            <a:off x="4498848" y="5065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Weights are shared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4498848" y="5394960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same kernel is reused at every position — far fewer parameters, and the pattern is found anywhere.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046720" y="4937760"/>
            <a:ext cx="35661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0" name="Shape 78"/>
          <p:cNvSpPr/>
          <p:nvPr/>
        </p:nvSpPr>
        <p:spPr>
          <a:xfrm>
            <a:off x="8046720" y="4937760"/>
            <a:ext cx="64008" cy="123444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1" name="Text 79"/>
          <p:cNvSpPr/>
          <p:nvPr/>
        </p:nvSpPr>
        <p:spPr>
          <a:xfrm>
            <a:off x="8247888" y="5065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Weights are learned</a:t>
            </a:r>
            <a:endParaRPr lang="en-US" sz="1250" dirty="0"/>
          </a:p>
        </p:txBody>
      </p:sp>
      <p:sp>
        <p:nvSpPr>
          <p:cNvPr id="82" name="Text 80"/>
          <p:cNvSpPr/>
          <p:nvPr/>
        </p:nvSpPr>
        <p:spPr>
          <a:xfrm>
            <a:off x="8247888" y="5394960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network discovers useful kernels during training; we don't design them by hand.</a:t>
            </a:r>
            <a:endParaRPr lang="en-US" sz="1100" dirty="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5607FCC-7CB1-12B7-7C03-C9DA3275E750}"/>
              </a:ext>
            </a:extLst>
          </p:cNvPr>
          <p:cNvGrpSpPr/>
          <p:nvPr/>
        </p:nvGrpSpPr>
        <p:grpSpPr>
          <a:xfrm>
            <a:off x="901192" y="2345952"/>
            <a:ext cx="5696712" cy="1691640"/>
            <a:chOff x="960120" y="2331720"/>
            <a:chExt cx="5696712" cy="1691640"/>
          </a:xfrm>
        </p:grpSpPr>
        <p:sp>
          <p:nvSpPr>
            <p:cNvPr id="145" name="Shape 8">
              <a:extLst>
                <a:ext uri="{FF2B5EF4-FFF2-40B4-BE49-F238E27FC236}">
                  <a16:creationId xmlns:a16="http://schemas.microsoft.com/office/drawing/2014/main" id="{CF83C26B-117D-8309-F49D-32D8C56F5D48}"/>
                </a:ext>
              </a:extLst>
            </p:cNvPr>
            <p:cNvSpPr/>
            <p:nvPr/>
          </p:nvSpPr>
          <p:spPr>
            <a:xfrm>
              <a:off x="1143000" y="2560320"/>
              <a:ext cx="164592" cy="164592"/>
            </a:xfrm>
            <a:prstGeom prst="rect">
              <a:avLst/>
            </a:prstGeom>
            <a:solidFill>
              <a:srgbClr val="A5F3FC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6" name="Shape 9">
              <a:extLst>
                <a:ext uri="{FF2B5EF4-FFF2-40B4-BE49-F238E27FC236}">
                  <a16:creationId xmlns:a16="http://schemas.microsoft.com/office/drawing/2014/main" id="{6FA05281-0C0A-B4DB-0F82-3EDED8D45BAF}"/>
                </a:ext>
              </a:extLst>
            </p:cNvPr>
            <p:cNvSpPr/>
            <p:nvPr/>
          </p:nvSpPr>
          <p:spPr>
            <a:xfrm>
              <a:off x="1307592" y="2560320"/>
              <a:ext cx="164592" cy="164592"/>
            </a:xfrm>
            <a:prstGeom prst="rect">
              <a:avLst/>
            </a:prstGeom>
            <a:solidFill>
              <a:srgbClr val="67E8F9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7" name="Shape 10">
              <a:extLst>
                <a:ext uri="{FF2B5EF4-FFF2-40B4-BE49-F238E27FC236}">
                  <a16:creationId xmlns:a16="http://schemas.microsoft.com/office/drawing/2014/main" id="{4DB4317A-3E53-EE7F-B464-0BC212BB1813}"/>
                </a:ext>
              </a:extLst>
            </p:cNvPr>
            <p:cNvSpPr/>
            <p:nvPr/>
          </p:nvSpPr>
          <p:spPr>
            <a:xfrm>
              <a:off x="1472184" y="2560320"/>
              <a:ext cx="164592" cy="164592"/>
            </a:xfrm>
            <a:prstGeom prst="rect">
              <a:avLst/>
            </a:prstGeom>
            <a:solidFill>
              <a:srgbClr val="22D3EE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8" name="Shape 11">
              <a:extLst>
                <a:ext uri="{FF2B5EF4-FFF2-40B4-BE49-F238E27FC236}">
                  <a16:creationId xmlns:a16="http://schemas.microsoft.com/office/drawing/2014/main" id="{DA7F91E5-D712-E088-AA61-39CD74AB9D06}"/>
                </a:ext>
              </a:extLst>
            </p:cNvPr>
            <p:cNvSpPr/>
            <p:nvPr/>
          </p:nvSpPr>
          <p:spPr>
            <a:xfrm>
              <a:off x="1636776" y="2560320"/>
              <a:ext cx="164592" cy="164592"/>
            </a:xfrm>
            <a:prstGeom prst="rect">
              <a:avLst/>
            </a:prstGeom>
            <a:solidFill>
              <a:srgbClr val="06B6D4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9" name="Shape 12">
              <a:extLst>
                <a:ext uri="{FF2B5EF4-FFF2-40B4-BE49-F238E27FC236}">
                  <a16:creationId xmlns:a16="http://schemas.microsoft.com/office/drawing/2014/main" id="{DCADA22C-BCB0-29FB-5DC4-24A7652B70C3}"/>
                </a:ext>
              </a:extLst>
            </p:cNvPr>
            <p:cNvSpPr/>
            <p:nvPr/>
          </p:nvSpPr>
          <p:spPr>
            <a:xfrm>
              <a:off x="1801368" y="2560320"/>
              <a:ext cx="164592" cy="164592"/>
            </a:xfrm>
            <a:prstGeom prst="rect">
              <a:avLst/>
            </a:prstGeom>
            <a:solidFill>
              <a:srgbClr val="06B6D4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0" name="Shape 13">
              <a:extLst>
                <a:ext uri="{FF2B5EF4-FFF2-40B4-BE49-F238E27FC236}">
                  <a16:creationId xmlns:a16="http://schemas.microsoft.com/office/drawing/2014/main" id="{943EEB85-9455-2EF1-2195-DD7B027DC2D5}"/>
                </a:ext>
              </a:extLst>
            </p:cNvPr>
            <p:cNvSpPr/>
            <p:nvPr/>
          </p:nvSpPr>
          <p:spPr>
            <a:xfrm>
              <a:off x="1965960" y="2560320"/>
              <a:ext cx="164592" cy="164592"/>
            </a:xfrm>
            <a:prstGeom prst="rect">
              <a:avLst/>
            </a:prstGeom>
            <a:solidFill>
              <a:srgbClr val="67E8F9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1" name="Shape 14">
              <a:extLst>
                <a:ext uri="{FF2B5EF4-FFF2-40B4-BE49-F238E27FC236}">
                  <a16:creationId xmlns:a16="http://schemas.microsoft.com/office/drawing/2014/main" id="{14BD3CC6-A083-35D5-9632-5DF87F8FEB68}"/>
                </a:ext>
              </a:extLst>
            </p:cNvPr>
            <p:cNvSpPr/>
            <p:nvPr/>
          </p:nvSpPr>
          <p:spPr>
            <a:xfrm>
              <a:off x="1143000" y="2724912"/>
              <a:ext cx="164592" cy="164592"/>
            </a:xfrm>
            <a:prstGeom prst="rect">
              <a:avLst/>
            </a:prstGeom>
            <a:solidFill>
              <a:srgbClr val="67E8F9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2" name="Shape 15">
              <a:extLst>
                <a:ext uri="{FF2B5EF4-FFF2-40B4-BE49-F238E27FC236}">
                  <a16:creationId xmlns:a16="http://schemas.microsoft.com/office/drawing/2014/main" id="{C7E367BE-2E65-AEF9-2D50-CDE1B7D115CE}"/>
                </a:ext>
              </a:extLst>
            </p:cNvPr>
            <p:cNvSpPr/>
            <p:nvPr/>
          </p:nvSpPr>
          <p:spPr>
            <a:xfrm>
              <a:off x="1307592" y="2724912"/>
              <a:ext cx="164592" cy="164592"/>
            </a:xfrm>
            <a:prstGeom prst="rect">
              <a:avLst/>
            </a:prstGeom>
            <a:solidFill>
              <a:srgbClr val="06B6D4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3" name="Shape 16">
              <a:extLst>
                <a:ext uri="{FF2B5EF4-FFF2-40B4-BE49-F238E27FC236}">
                  <a16:creationId xmlns:a16="http://schemas.microsoft.com/office/drawing/2014/main" id="{FC881766-73DE-1174-815B-04461AA09DB6}"/>
                </a:ext>
              </a:extLst>
            </p:cNvPr>
            <p:cNvSpPr/>
            <p:nvPr/>
          </p:nvSpPr>
          <p:spPr>
            <a:xfrm>
              <a:off x="1472184" y="2724912"/>
              <a:ext cx="164592" cy="164592"/>
            </a:xfrm>
            <a:prstGeom prst="rect">
              <a:avLst/>
            </a:prstGeom>
            <a:solidFill>
              <a:srgbClr val="0E7490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4" name="Shape 17">
              <a:extLst>
                <a:ext uri="{FF2B5EF4-FFF2-40B4-BE49-F238E27FC236}">
                  <a16:creationId xmlns:a16="http://schemas.microsoft.com/office/drawing/2014/main" id="{34430723-AF9A-71D7-2151-92C75AB77550}"/>
                </a:ext>
              </a:extLst>
            </p:cNvPr>
            <p:cNvSpPr/>
            <p:nvPr/>
          </p:nvSpPr>
          <p:spPr>
            <a:xfrm>
              <a:off x="1636776" y="2724912"/>
              <a:ext cx="164592" cy="164592"/>
            </a:xfrm>
            <a:prstGeom prst="rect">
              <a:avLst/>
            </a:prstGeom>
            <a:solidFill>
              <a:srgbClr val="164E63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5" name="Shape 18">
              <a:extLst>
                <a:ext uri="{FF2B5EF4-FFF2-40B4-BE49-F238E27FC236}">
                  <a16:creationId xmlns:a16="http://schemas.microsoft.com/office/drawing/2014/main" id="{E2C64A5B-CE99-DEC9-642A-963B06E7130D}"/>
                </a:ext>
              </a:extLst>
            </p:cNvPr>
            <p:cNvSpPr/>
            <p:nvPr/>
          </p:nvSpPr>
          <p:spPr>
            <a:xfrm>
              <a:off x="1801368" y="2724912"/>
              <a:ext cx="164592" cy="164592"/>
            </a:xfrm>
            <a:prstGeom prst="rect">
              <a:avLst/>
            </a:prstGeom>
            <a:solidFill>
              <a:srgbClr val="0E7490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6" name="Shape 19">
              <a:extLst>
                <a:ext uri="{FF2B5EF4-FFF2-40B4-BE49-F238E27FC236}">
                  <a16:creationId xmlns:a16="http://schemas.microsoft.com/office/drawing/2014/main" id="{C76E189B-A0E0-9736-3982-CD189CF664E2}"/>
                </a:ext>
              </a:extLst>
            </p:cNvPr>
            <p:cNvSpPr/>
            <p:nvPr/>
          </p:nvSpPr>
          <p:spPr>
            <a:xfrm>
              <a:off x="1965960" y="2724912"/>
              <a:ext cx="164592" cy="164592"/>
            </a:xfrm>
            <a:prstGeom prst="rect">
              <a:avLst/>
            </a:prstGeom>
            <a:solidFill>
              <a:srgbClr val="22D3EE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7" name="Shape 20">
              <a:extLst>
                <a:ext uri="{FF2B5EF4-FFF2-40B4-BE49-F238E27FC236}">
                  <a16:creationId xmlns:a16="http://schemas.microsoft.com/office/drawing/2014/main" id="{4F6B68DB-F7A1-54D9-2A00-F50204065E06}"/>
                </a:ext>
              </a:extLst>
            </p:cNvPr>
            <p:cNvSpPr/>
            <p:nvPr/>
          </p:nvSpPr>
          <p:spPr>
            <a:xfrm>
              <a:off x="1143000" y="2889504"/>
              <a:ext cx="164592" cy="164592"/>
            </a:xfrm>
            <a:prstGeom prst="rect">
              <a:avLst/>
            </a:prstGeom>
            <a:solidFill>
              <a:srgbClr val="06B6D4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8" name="Shape 21">
              <a:extLst>
                <a:ext uri="{FF2B5EF4-FFF2-40B4-BE49-F238E27FC236}">
                  <a16:creationId xmlns:a16="http://schemas.microsoft.com/office/drawing/2014/main" id="{3DA4E94D-5E24-BB5F-715C-69AAB3905896}"/>
                </a:ext>
              </a:extLst>
            </p:cNvPr>
            <p:cNvSpPr/>
            <p:nvPr/>
          </p:nvSpPr>
          <p:spPr>
            <a:xfrm>
              <a:off x="1307592" y="2889504"/>
              <a:ext cx="164592" cy="164592"/>
            </a:xfrm>
            <a:prstGeom prst="rect">
              <a:avLst/>
            </a:prstGeom>
            <a:solidFill>
              <a:srgbClr val="155E75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9" name="Shape 22">
              <a:extLst>
                <a:ext uri="{FF2B5EF4-FFF2-40B4-BE49-F238E27FC236}">
                  <a16:creationId xmlns:a16="http://schemas.microsoft.com/office/drawing/2014/main" id="{EFAE2F86-1EB8-635F-DCA3-050681610894}"/>
                </a:ext>
              </a:extLst>
            </p:cNvPr>
            <p:cNvSpPr/>
            <p:nvPr/>
          </p:nvSpPr>
          <p:spPr>
            <a:xfrm>
              <a:off x="1472184" y="2889504"/>
              <a:ext cx="164592" cy="164592"/>
            </a:xfrm>
            <a:prstGeom prst="rect">
              <a:avLst/>
            </a:prstGeom>
            <a:solidFill>
              <a:srgbClr val="164E63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0" name="Shape 23">
              <a:extLst>
                <a:ext uri="{FF2B5EF4-FFF2-40B4-BE49-F238E27FC236}">
                  <a16:creationId xmlns:a16="http://schemas.microsoft.com/office/drawing/2014/main" id="{526A9406-C5DE-1239-E6F6-473395026A9C}"/>
                </a:ext>
              </a:extLst>
            </p:cNvPr>
            <p:cNvSpPr/>
            <p:nvPr/>
          </p:nvSpPr>
          <p:spPr>
            <a:xfrm>
              <a:off x="1636776" y="2889504"/>
              <a:ext cx="164592" cy="164592"/>
            </a:xfrm>
            <a:prstGeom prst="rect">
              <a:avLst/>
            </a:prstGeom>
            <a:solidFill>
              <a:srgbClr val="164E63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1" name="Shape 24">
              <a:extLst>
                <a:ext uri="{FF2B5EF4-FFF2-40B4-BE49-F238E27FC236}">
                  <a16:creationId xmlns:a16="http://schemas.microsoft.com/office/drawing/2014/main" id="{ED27E03B-8FC3-BFCB-7EEE-B2FEFDEC5150}"/>
                </a:ext>
              </a:extLst>
            </p:cNvPr>
            <p:cNvSpPr/>
            <p:nvPr/>
          </p:nvSpPr>
          <p:spPr>
            <a:xfrm>
              <a:off x="1801368" y="2889504"/>
              <a:ext cx="164592" cy="164592"/>
            </a:xfrm>
            <a:prstGeom prst="rect">
              <a:avLst/>
            </a:prstGeom>
            <a:solidFill>
              <a:srgbClr val="155E75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2" name="Shape 25">
              <a:extLst>
                <a:ext uri="{FF2B5EF4-FFF2-40B4-BE49-F238E27FC236}">
                  <a16:creationId xmlns:a16="http://schemas.microsoft.com/office/drawing/2014/main" id="{60301C26-63EF-AD2F-06AB-DCABF4E7186E}"/>
                </a:ext>
              </a:extLst>
            </p:cNvPr>
            <p:cNvSpPr/>
            <p:nvPr/>
          </p:nvSpPr>
          <p:spPr>
            <a:xfrm>
              <a:off x="1965960" y="2889504"/>
              <a:ext cx="164592" cy="164592"/>
            </a:xfrm>
            <a:prstGeom prst="rect">
              <a:avLst/>
            </a:prstGeom>
            <a:solidFill>
              <a:srgbClr val="06B6D4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3" name="Shape 26">
              <a:extLst>
                <a:ext uri="{FF2B5EF4-FFF2-40B4-BE49-F238E27FC236}">
                  <a16:creationId xmlns:a16="http://schemas.microsoft.com/office/drawing/2014/main" id="{D0D7D22F-FE22-382F-8B71-99613B974AFC}"/>
                </a:ext>
              </a:extLst>
            </p:cNvPr>
            <p:cNvSpPr/>
            <p:nvPr/>
          </p:nvSpPr>
          <p:spPr>
            <a:xfrm>
              <a:off x="1143000" y="3054096"/>
              <a:ext cx="164592" cy="164592"/>
            </a:xfrm>
            <a:prstGeom prst="rect">
              <a:avLst/>
            </a:prstGeom>
            <a:solidFill>
              <a:srgbClr val="06B6D4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4" name="Shape 27">
              <a:extLst>
                <a:ext uri="{FF2B5EF4-FFF2-40B4-BE49-F238E27FC236}">
                  <a16:creationId xmlns:a16="http://schemas.microsoft.com/office/drawing/2014/main" id="{CDF21AF8-EA26-221C-E6E9-29995FD05B7C}"/>
                </a:ext>
              </a:extLst>
            </p:cNvPr>
            <p:cNvSpPr/>
            <p:nvPr/>
          </p:nvSpPr>
          <p:spPr>
            <a:xfrm>
              <a:off x="1307592" y="3054096"/>
              <a:ext cx="164592" cy="164592"/>
            </a:xfrm>
            <a:prstGeom prst="rect">
              <a:avLst/>
            </a:prstGeom>
            <a:solidFill>
              <a:srgbClr val="164E63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5" name="Shape 28">
              <a:extLst>
                <a:ext uri="{FF2B5EF4-FFF2-40B4-BE49-F238E27FC236}">
                  <a16:creationId xmlns:a16="http://schemas.microsoft.com/office/drawing/2014/main" id="{B5468419-5B97-E9A7-BD93-0F7CED5AAFAF}"/>
                </a:ext>
              </a:extLst>
            </p:cNvPr>
            <p:cNvSpPr/>
            <p:nvPr/>
          </p:nvSpPr>
          <p:spPr>
            <a:xfrm>
              <a:off x="1472184" y="3054096"/>
              <a:ext cx="164592" cy="164592"/>
            </a:xfrm>
            <a:prstGeom prst="rect">
              <a:avLst/>
            </a:prstGeom>
            <a:solidFill>
              <a:srgbClr val="164E63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6" name="Shape 29">
              <a:extLst>
                <a:ext uri="{FF2B5EF4-FFF2-40B4-BE49-F238E27FC236}">
                  <a16:creationId xmlns:a16="http://schemas.microsoft.com/office/drawing/2014/main" id="{095C6894-673B-EF64-3576-2C9B5D7B4E5C}"/>
                </a:ext>
              </a:extLst>
            </p:cNvPr>
            <p:cNvSpPr/>
            <p:nvPr/>
          </p:nvSpPr>
          <p:spPr>
            <a:xfrm>
              <a:off x="1636776" y="3054096"/>
              <a:ext cx="164592" cy="164592"/>
            </a:xfrm>
            <a:prstGeom prst="rect">
              <a:avLst/>
            </a:prstGeom>
            <a:solidFill>
              <a:srgbClr val="164E63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7" name="Shape 30">
              <a:extLst>
                <a:ext uri="{FF2B5EF4-FFF2-40B4-BE49-F238E27FC236}">
                  <a16:creationId xmlns:a16="http://schemas.microsoft.com/office/drawing/2014/main" id="{8AFD3CAE-77AD-A514-639B-83F8149D7F5A}"/>
                </a:ext>
              </a:extLst>
            </p:cNvPr>
            <p:cNvSpPr/>
            <p:nvPr/>
          </p:nvSpPr>
          <p:spPr>
            <a:xfrm>
              <a:off x="1801368" y="3054096"/>
              <a:ext cx="164592" cy="164592"/>
            </a:xfrm>
            <a:prstGeom prst="rect">
              <a:avLst/>
            </a:prstGeom>
            <a:solidFill>
              <a:srgbClr val="0E7490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8" name="Shape 31">
              <a:extLst>
                <a:ext uri="{FF2B5EF4-FFF2-40B4-BE49-F238E27FC236}">
                  <a16:creationId xmlns:a16="http://schemas.microsoft.com/office/drawing/2014/main" id="{A334FA0C-250C-496F-CB22-B7E24909B687}"/>
                </a:ext>
              </a:extLst>
            </p:cNvPr>
            <p:cNvSpPr/>
            <p:nvPr/>
          </p:nvSpPr>
          <p:spPr>
            <a:xfrm>
              <a:off x="1965960" y="3054096"/>
              <a:ext cx="164592" cy="164592"/>
            </a:xfrm>
            <a:prstGeom prst="rect">
              <a:avLst/>
            </a:prstGeom>
            <a:solidFill>
              <a:srgbClr val="22D3EE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9" name="Shape 32">
              <a:extLst>
                <a:ext uri="{FF2B5EF4-FFF2-40B4-BE49-F238E27FC236}">
                  <a16:creationId xmlns:a16="http://schemas.microsoft.com/office/drawing/2014/main" id="{3809F3FC-485D-B89F-FD14-220A6C2FE11D}"/>
                </a:ext>
              </a:extLst>
            </p:cNvPr>
            <p:cNvSpPr/>
            <p:nvPr/>
          </p:nvSpPr>
          <p:spPr>
            <a:xfrm>
              <a:off x="1143000" y="3218688"/>
              <a:ext cx="164592" cy="164592"/>
            </a:xfrm>
            <a:prstGeom prst="rect">
              <a:avLst/>
            </a:prstGeom>
            <a:solidFill>
              <a:srgbClr val="22D3EE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0" name="Shape 33">
              <a:extLst>
                <a:ext uri="{FF2B5EF4-FFF2-40B4-BE49-F238E27FC236}">
                  <a16:creationId xmlns:a16="http://schemas.microsoft.com/office/drawing/2014/main" id="{4D446944-DD44-9655-91A1-CEF0E3BAE9A6}"/>
                </a:ext>
              </a:extLst>
            </p:cNvPr>
            <p:cNvSpPr/>
            <p:nvPr/>
          </p:nvSpPr>
          <p:spPr>
            <a:xfrm>
              <a:off x="1307592" y="3218688"/>
              <a:ext cx="164592" cy="164592"/>
            </a:xfrm>
            <a:prstGeom prst="rect">
              <a:avLst/>
            </a:prstGeom>
            <a:solidFill>
              <a:srgbClr val="0E7490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1" name="Shape 34">
              <a:extLst>
                <a:ext uri="{FF2B5EF4-FFF2-40B4-BE49-F238E27FC236}">
                  <a16:creationId xmlns:a16="http://schemas.microsoft.com/office/drawing/2014/main" id="{95FEEAD9-78DC-43FA-F6EC-ED74A2A8CE56}"/>
                </a:ext>
              </a:extLst>
            </p:cNvPr>
            <p:cNvSpPr/>
            <p:nvPr/>
          </p:nvSpPr>
          <p:spPr>
            <a:xfrm>
              <a:off x="1472184" y="3218688"/>
              <a:ext cx="164592" cy="164592"/>
            </a:xfrm>
            <a:prstGeom prst="rect">
              <a:avLst/>
            </a:prstGeom>
            <a:solidFill>
              <a:srgbClr val="155E75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2" name="Shape 35">
              <a:extLst>
                <a:ext uri="{FF2B5EF4-FFF2-40B4-BE49-F238E27FC236}">
                  <a16:creationId xmlns:a16="http://schemas.microsoft.com/office/drawing/2014/main" id="{2BD72A47-84BC-E905-E2A5-6FCEA3D58D1C}"/>
                </a:ext>
              </a:extLst>
            </p:cNvPr>
            <p:cNvSpPr/>
            <p:nvPr/>
          </p:nvSpPr>
          <p:spPr>
            <a:xfrm>
              <a:off x="1636776" y="3218688"/>
              <a:ext cx="164592" cy="164592"/>
            </a:xfrm>
            <a:prstGeom prst="rect">
              <a:avLst/>
            </a:prstGeom>
            <a:solidFill>
              <a:srgbClr val="06B6D4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3" name="Shape 36">
              <a:extLst>
                <a:ext uri="{FF2B5EF4-FFF2-40B4-BE49-F238E27FC236}">
                  <a16:creationId xmlns:a16="http://schemas.microsoft.com/office/drawing/2014/main" id="{5B8E90A6-6687-CC49-0092-C8154E28297B}"/>
                </a:ext>
              </a:extLst>
            </p:cNvPr>
            <p:cNvSpPr/>
            <p:nvPr/>
          </p:nvSpPr>
          <p:spPr>
            <a:xfrm>
              <a:off x="1801368" y="3218688"/>
              <a:ext cx="164592" cy="164592"/>
            </a:xfrm>
            <a:prstGeom prst="rect">
              <a:avLst/>
            </a:prstGeom>
            <a:solidFill>
              <a:srgbClr val="22D3EE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4" name="Shape 37">
              <a:extLst>
                <a:ext uri="{FF2B5EF4-FFF2-40B4-BE49-F238E27FC236}">
                  <a16:creationId xmlns:a16="http://schemas.microsoft.com/office/drawing/2014/main" id="{E2D25135-F712-E68D-1C0C-52FBA875988E}"/>
                </a:ext>
              </a:extLst>
            </p:cNvPr>
            <p:cNvSpPr/>
            <p:nvPr/>
          </p:nvSpPr>
          <p:spPr>
            <a:xfrm>
              <a:off x="1965960" y="3218688"/>
              <a:ext cx="164592" cy="164592"/>
            </a:xfrm>
            <a:prstGeom prst="rect">
              <a:avLst/>
            </a:prstGeom>
            <a:solidFill>
              <a:srgbClr val="A5F3FC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5" name="Shape 38">
              <a:extLst>
                <a:ext uri="{FF2B5EF4-FFF2-40B4-BE49-F238E27FC236}">
                  <a16:creationId xmlns:a16="http://schemas.microsoft.com/office/drawing/2014/main" id="{2F3FAE71-8C7F-DEC5-70DB-15FBA90FE65E}"/>
                </a:ext>
              </a:extLst>
            </p:cNvPr>
            <p:cNvSpPr/>
            <p:nvPr/>
          </p:nvSpPr>
          <p:spPr>
            <a:xfrm>
              <a:off x="1143000" y="3383280"/>
              <a:ext cx="164592" cy="164592"/>
            </a:xfrm>
            <a:prstGeom prst="rect">
              <a:avLst/>
            </a:prstGeom>
            <a:solidFill>
              <a:srgbClr val="A5F3FC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6" name="Shape 39">
              <a:extLst>
                <a:ext uri="{FF2B5EF4-FFF2-40B4-BE49-F238E27FC236}">
                  <a16:creationId xmlns:a16="http://schemas.microsoft.com/office/drawing/2014/main" id="{5916A66A-1031-2CC1-8F67-AAD037813E8C}"/>
                </a:ext>
              </a:extLst>
            </p:cNvPr>
            <p:cNvSpPr/>
            <p:nvPr/>
          </p:nvSpPr>
          <p:spPr>
            <a:xfrm>
              <a:off x="1307592" y="3383280"/>
              <a:ext cx="164592" cy="164592"/>
            </a:xfrm>
            <a:prstGeom prst="rect">
              <a:avLst/>
            </a:prstGeom>
            <a:solidFill>
              <a:srgbClr val="22D3EE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7" name="Shape 40">
              <a:extLst>
                <a:ext uri="{FF2B5EF4-FFF2-40B4-BE49-F238E27FC236}">
                  <a16:creationId xmlns:a16="http://schemas.microsoft.com/office/drawing/2014/main" id="{355E0EC5-E3A1-5778-F5CF-0F73D3D7D984}"/>
                </a:ext>
              </a:extLst>
            </p:cNvPr>
            <p:cNvSpPr/>
            <p:nvPr/>
          </p:nvSpPr>
          <p:spPr>
            <a:xfrm>
              <a:off x="1472184" y="3383280"/>
              <a:ext cx="164592" cy="164592"/>
            </a:xfrm>
            <a:prstGeom prst="rect">
              <a:avLst/>
            </a:prstGeom>
            <a:solidFill>
              <a:srgbClr val="06B6D4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8" name="Shape 41">
              <a:extLst>
                <a:ext uri="{FF2B5EF4-FFF2-40B4-BE49-F238E27FC236}">
                  <a16:creationId xmlns:a16="http://schemas.microsoft.com/office/drawing/2014/main" id="{75AB9468-513B-F936-9D47-862F872CC86E}"/>
                </a:ext>
              </a:extLst>
            </p:cNvPr>
            <p:cNvSpPr/>
            <p:nvPr/>
          </p:nvSpPr>
          <p:spPr>
            <a:xfrm>
              <a:off x="1636776" y="3383280"/>
              <a:ext cx="164592" cy="164592"/>
            </a:xfrm>
            <a:prstGeom prst="rect">
              <a:avLst/>
            </a:prstGeom>
            <a:solidFill>
              <a:srgbClr val="67E8F9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9" name="Shape 42">
              <a:extLst>
                <a:ext uri="{FF2B5EF4-FFF2-40B4-BE49-F238E27FC236}">
                  <a16:creationId xmlns:a16="http://schemas.microsoft.com/office/drawing/2014/main" id="{56A9E823-58E0-1364-DF61-5F63B1C6742C}"/>
                </a:ext>
              </a:extLst>
            </p:cNvPr>
            <p:cNvSpPr/>
            <p:nvPr/>
          </p:nvSpPr>
          <p:spPr>
            <a:xfrm>
              <a:off x="1801368" y="3383280"/>
              <a:ext cx="164592" cy="164592"/>
            </a:xfrm>
            <a:prstGeom prst="rect">
              <a:avLst/>
            </a:prstGeom>
            <a:solidFill>
              <a:srgbClr val="A5F3FC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0" name="Shape 43">
              <a:extLst>
                <a:ext uri="{FF2B5EF4-FFF2-40B4-BE49-F238E27FC236}">
                  <a16:creationId xmlns:a16="http://schemas.microsoft.com/office/drawing/2014/main" id="{21165D7C-CF5D-E726-D62E-2178042C12C3}"/>
                </a:ext>
              </a:extLst>
            </p:cNvPr>
            <p:cNvSpPr/>
            <p:nvPr/>
          </p:nvSpPr>
          <p:spPr>
            <a:xfrm>
              <a:off x="1965960" y="3383280"/>
              <a:ext cx="164592" cy="164592"/>
            </a:xfrm>
            <a:prstGeom prst="rect">
              <a:avLst/>
            </a:prstGeom>
            <a:solidFill>
              <a:srgbClr val="CFFAFE"/>
            </a:solidFill>
            <a:ln w="63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1" name="Text 44">
              <a:extLst>
                <a:ext uri="{FF2B5EF4-FFF2-40B4-BE49-F238E27FC236}">
                  <a16:creationId xmlns:a16="http://schemas.microsoft.com/office/drawing/2014/main" id="{115AB632-DB2F-A48F-D6F3-6E3A9BF39C2F}"/>
                </a:ext>
              </a:extLst>
            </p:cNvPr>
            <p:cNvSpPr/>
            <p:nvPr/>
          </p:nvSpPr>
          <p:spPr>
            <a:xfrm>
              <a:off x="960120" y="3639312"/>
              <a:ext cx="13533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7E708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Input field</a:t>
              </a:r>
              <a:endParaRPr lang="en-US" sz="1000" dirty="0"/>
            </a:p>
          </p:txBody>
        </p:sp>
        <p:sp>
          <p:nvSpPr>
            <p:cNvPr id="182" name="Shape 45">
              <a:extLst>
                <a:ext uri="{FF2B5EF4-FFF2-40B4-BE49-F238E27FC236}">
                  <a16:creationId xmlns:a16="http://schemas.microsoft.com/office/drawing/2014/main" id="{FB2A585F-D364-1F6D-C40B-8382182B7498}"/>
                </a:ext>
              </a:extLst>
            </p:cNvPr>
            <p:cNvSpPr/>
            <p:nvPr/>
          </p:nvSpPr>
          <p:spPr>
            <a:xfrm>
              <a:off x="2226056" y="2909832"/>
              <a:ext cx="365760" cy="0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3" name="Shape 46">
              <a:extLst>
                <a:ext uri="{FF2B5EF4-FFF2-40B4-BE49-F238E27FC236}">
                  <a16:creationId xmlns:a16="http://schemas.microsoft.com/office/drawing/2014/main" id="{412EB78C-1C13-58DB-F1AB-373246DB4463}"/>
                </a:ext>
              </a:extLst>
            </p:cNvPr>
            <p:cNvSpPr/>
            <p:nvPr/>
          </p:nvSpPr>
          <p:spPr>
            <a:xfrm>
              <a:off x="2889504" y="2542032"/>
              <a:ext cx="822960" cy="822960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4" name="Shape 47">
              <a:extLst>
                <a:ext uri="{FF2B5EF4-FFF2-40B4-BE49-F238E27FC236}">
                  <a16:creationId xmlns:a16="http://schemas.microsoft.com/office/drawing/2014/main" id="{A0981D0D-850B-4794-1A15-FB5A7D41B8AE}"/>
                </a:ext>
              </a:extLst>
            </p:cNvPr>
            <p:cNvSpPr/>
            <p:nvPr/>
          </p:nvSpPr>
          <p:spPr>
            <a:xfrm>
              <a:off x="2834640" y="2487168"/>
              <a:ext cx="822960" cy="822960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5" name="Shape 48">
              <a:extLst>
                <a:ext uri="{FF2B5EF4-FFF2-40B4-BE49-F238E27FC236}">
                  <a16:creationId xmlns:a16="http://schemas.microsoft.com/office/drawing/2014/main" id="{7A4AB378-CB26-3F58-E6F7-A0958249C70E}"/>
                </a:ext>
              </a:extLst>
            </p:cNvPr>
            <p:cNvSpPr/>
            <p:nvPr/>
          </p:nvSpPr>
          <p:spPr>
            <a:xfrm>
              <a:off x="2779776" y="2432304"/>
              <a:ext cx="822960" cy="822960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6" name="Shape 49">
              <a:extLst>
                <a:ext uri="{FF2B5EF4-FFF2-40B4-BE49-F238E27FC236}">
                  <a16:creationId xmlns:a16="http://schemas.microsoft.com/office/drawing/2014/main" id="{EC659CD9-D81A-87D5-D637-F8E8C01EB00B}"/>
                </a:ext>
              </a:extLst>
            </p:cNvPr>
            <p:cNvSpPr/>
            <p:nvPr/>
          </p:nvSpPr>
          <p:spPr>
            <a:xfrm>
              <a:off x="2724912" y="2377440"/>
              <a:ext cx="822960" cy="822960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8F55E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7" name="Text 50">
              <a:extLst>
                <a:ext uri="{FF2B5EF4-FFF2-40B4-BE49-F238E27FC236}">
                  <a16:creationId xmlns:a16="http://schemas.microsoft.com/office/drawing/2014/main" id="{110DFAA7-45C0-6330-3E23-AAABDB88DE85}"/>
                </a:ext>
              </a:extLst>
            </p:cNvPr>
            <p:cNvSpPr/>
            <p:nvPr/>
          </p:nvSpPr>
          <p:spPr>
            <a:xfrm>
              <a:off x="2542032" y="342900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7E708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Conv + ReLU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i="1" dirty="0">
                  <a:solidFill>
                    <a:srgbClr val="7E708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Pool</a:t>
              </a:r>
              <a:endParaRPr lang="en-US" sz="900" dirty="0"/>
            </a:p>
          </p:txBody>
        </p:sp>
        <p:sp>
          <p:nvSpPr>
            <p:cNvPr id="188" name="Shape 51">
              <a:extLst>
                <a:ext uri="{FF2B5EF4-FFF2-40B4-BE49-F238E27FC236}">
                  <a16:creationId xmlns:a16="http://schemas.microsoft.com/office/drawing/2014/main" id="{B95772C8-1DA0-792C-F650-26D65483B5E8}"/>
                </a:ext>
              </a:extLst>
            </p:cNvPr>
            <p:cNvSpPr/>
            <p:nvPr/>
          </p:nvSpPr>
          <p:spPr>
            <a:xfrm>
              <a:off x="3756152" y="2864222"/>
              <a:ext cx="365760" cy="0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9" name="Shape 52">
              <a:extLst>
                <a:ext uri="{FF2B5EF4-FFF2-40B4-BE49-F238E27FC236}">
                  <a16:creationId xmlns:a16="http://schemas.microsoft.com/office/drawing/2014/main" id="{69472634-5C0F-438E-6D27-FDE3B883154D}"/>
                </a:ext>
              </a:extLst>
            </p:cNvPr>
            <p:cNvSpPr/>
            <p:nvPr/>
          </p:nvSpPr>
          <p:spPr>
            <a:xfrm>
              <a:off x="4370832" y="2743200"/>
              <a:ext cx="594360" cy="594360"/>
            </a:xfrm>
            <a:prstGeom prst="rect">
              <a:avLst/>
            </a:prstGeom>
            <a:solidFill>
              <a:srgbClr val="FCEBD4"/>
            </a:solidFill>
            <a:ln w="12700">
              <a:solidFill>
                <a:srgbClr val="F0A7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0" name="Shape 53">
              <a:extLst>
                <a:ext uri="{FF2B5EF4-FFF2-40B4-BE49-F238E27FC236}">
                  <a16:creationId xmlns:a16="http://schemas.microsoft.com/office/drawing/2014/main" id="{D091634F-5232-DF81-8D3B-BC12D5072B78}"/>
                </a:ext>
              </a:extLst>
            </p:cNvPr>
            <p:cNvSpPr/>
            <p:nvPr/>
          </p:nvSpPr>
          <p:spPr>
            <a:xfrm>
              <a:off x="4325112" y="2697480"/>
              <a:ext cx="594360" cy="594360"/>
            </a:xfrm>
            <a:prstGeom prst="rect">
              <a:avLst/>
            </a:prstGeom>
            <a:solidFill>
              <a:srgbClr val="FCEBD4"/>
            </a:solidFill>
            <a:ln w="12700">
              <a:solidFill>
                <a:srgbClr val="F0A7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1" name="Shape 54">
              <a:extLst>
                <a:ext uri="{FF2B5EF4-FFF2-40B4-BE49-F238E27FC236}">
                  <a16:creationId xmlns:a16="http://schemas.microsoft.com/office/drawing/2014/main" id="{49904EE4-A56A-91A8-98E4-2F4E6E2690BB}"/>
                </a:ext>
              </a:extLst>
            </p:cNvPr>
            <p:cNvSpPr/>
            <p:nvPr/>
          </p:nvSpPr>
          <p:spPr>
            <a:xfrm>
              <a:off x="4279392" y="2651760"/>
              <a:ext cx="594360" cy="594360"/>
            </a:xfrm>
            <a:prstGeom prst="rect">
              <a:avLst/>
            </a:prstGeom>
            <a:solidFill>
              <a:srgbClr val="FCEBD4"/>
            </a:solidFill>
            <a:ln w="12700">
              <a:solidFill>
                <a:srgbClr val="F0A7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2" name="Shape 55">
              <a:extLst>
                <a:ext uri="{FF2B5EF4-FFF2-40B4-BE49-F238E27FC236}">
                  <a16:creationId xmlns:a16="http://schemas.microsoft.com/office/drawing/2014/main" id="{C3FB8C12-5F8E-DDEE-B27A-43A716BD9786}"/>
                </a:ext>
              </a:extLst>
            </p:cNvPr>
            <p:cNvSpPr/>
            <p:nvPr/>
          </p:nvSpPr>
          <p:spPr>
            <a:xfrm>
              <a:off x="4233672" y="2606040"/>
              <a:ext cx="594360" cy="594360"/>
            </a:xfrm>
            <a:prstGeom prst="rect">
              <a:avLst/>
            </a:prstGeom>
            <a:solidFill>
              <a:srgbClr val="FCEBD4"/>
            </a:solidFill>
            <a:ln w="12700">
              <a:solidFill>
                <a:srgbClr val="F0A7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3" name="Shape 56">
              <a:extLst>
                <a:ext uri="{FF2B5EF4-FFF2-40B4-BE49-F238E27FC236}">
                  <a16:creationId xmlns:a16="http://schemas.microsoft.com/office/drawing/2014/main" id="{44326120-D43E-FF31-BFC4-B56D66780B5C}"/>
                </a:ext>
              </a:extLst>
            </p:cNvPr>
            <p:cNvSpPr/>
            <p:nvPr/>
          </p:nvSpPr>
          <p:spPr>
            <a:xfrm>
              <a:off x="4187952" y="2560320"/>
              <a:ext cx="594360" cy="594360"/>
            </a:xfrm>
            <a:prstGeom prst="rect">
              <a:avLst/>
            </a:prstGeom>
            <a:solidFill>
              <a:srgbClr val="FCEBD4"/>
            </a:solidFill>
            <a:ln w="12700">
              <a:solidFill>
                <a:srgbClr val="F0A7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4" name="Shape 57">
              <a:extLst>
                <a:ext uri="{FF2B5EF4-FFF2-40B4-BE49-F238E27FC236}">
                  <a16:creationId xmlns:a16="http://schemas.microsoft.com/office/drawing/2014/main" id="{53757DF3-8D54-2A20-337D-BD8B5F3FC193}"/>
                </a:ext>
              </a:extLst>
            </p:cNvPr>
            <p:cNvSpPr/>
            <p:nvPr/>
          </p:nvSpPr>
          <p:spPr>
            <a:xfrm>
              <a:off x="4142232" y="2514600"/>
              <a:ext cx="594360" cy="594360"/>
            </a:xfrm>
            <a:prstGeom prst="rect">
              <a:avLst/>
            </a:prstGeom>
            <a:solidFill>
              <a:srgbClr val="FCEBD4"/>
            </a:solidFill>
            <a:ln w="12700">
              <a:solidFill>
                <a:srgbClr val="F0A7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5" name="Text 58">
              <a:extLst>
                <a:ext uri="{FF2B5EF4-FFF2-40B4-BE49-F238E27FC236}">
                  <a16:creationId xmlns:a16="http://schemas.microsoft.com/office/drawing/2014/main" id="{9732DACD-FDC1-CCF0-A44B-723166B6635C}"/>
                </a:ext>
              </a:extLst>
            </p:cNvPr>
            <p:cNvSpPr/>
            <p:nvPr/>
          </p:nvSpPr>
          <p:spPr>
            <a:xfrm>
              <a:off x="4050792" y="3474720"/>
              <a:ext cx="10058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7E708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Conv + ReLU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i="1" dirty="0">
                  <a:solidFill>
                    <a:srgbClr val="7E708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Pool</a:t>
              </a:r>
              <a:endParaRPr lang="en-US" sz="900" dirty="0"/>
            </a:p>
          </p:txBody>
        </p:sp>
        <p:sp>
          <p:nvSpPr>
            <p:cNvPr id="196" name="Shape 59">
              <a:extLst>
                <a:ext uri="{FF2B5EF4-FFF2-40B4-BE49-F238E27FC236}">
                  <a16:creationId xmlns:a16="http://schemas.microsoft.com/office/drawing/2014/main" id="{E918B735-CE36-14A3-76D9-66A283B69793}"/>
                </a:ext>
              </a:extLst>
            </p:cNvPr>
            <p:cNvSpPr/>
            <p:nvPr/>
          </p:nvSpPr>
          <p:spPr>
            <a:xfrm>
              <a:off x="5056632" y="2990088"/>
              <a:ext cx="365760" cy="0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7" name="Shape 60">
              <a:extLst>
                <a:ext uri="{FF2B5EF4-FFF2-40B4-BE49-F238E27FC236}">
                  <a16:creationId xmlns:a16="http://schemas.microsoft.com/office/drawing/2014/main" id="{777CEC47-C255-95C4-0125-4A1323EBA99E}"/>
                </a:ext>
              </a:extLst>
            </p:cNvPr>
            <p:cNvSpPr/>
            <p:nvPr/>
          </p:nvSpPr>
          <p:spPr>
            <a:xfrm>
              <a:off x="5513832" y="2331720"/>
              <a:ext cx="228600" cy="1371600"/>
            </a:xfrm>
            <a:prstGeom prst="rect">
              <a:avLst/>
            </a:prstGeom>
            <a:solidFill>
              <a:srgbClr val="E7DCFA"/>
            </a:solidFill>
            <a:ln w="12700">
              <a:solidFill>
                <a:srgbClr val="6B36C2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8" name="Text 61">
              <a:extLst>
                <a:ext uri="{FF2B5EF4-FFF2-40B4-BE49-F238E27FC236}">
                  <a16:creationId xmlns:a16="http://schemas.microsoft.com/office/drawing/2014/main" id="{262E0491-2790-1F65-ABBC-982E0DCCA4D1}"/>
                </a:ext>
              </a:extLst>
            </p:cNvPr>
            <p:cNvSpPr/>
            <p:nvPr/>
          </p:nvSpPr>
          <p:spPr>
            <a:xfrm>
              <a:off x="5239512" y="3749040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7E708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Flatten</a:t>
              </a:r>
              <a:endParaRPr lang="en-US" sz="900" dirty="0"/>
            </a:p>
          </p:txBody>
        </p:sp>
        <p:sp>
          <p:nvSpPr>
            <p:cNvPr id="199" name="Shape 62">
              <a:extLst>
                <a:ext uri="{FF2B5EF4-FFF2-40B4-BE49-F238E27FC236}">
                  <a16:creationId xmlns:a16="http://schemas.microsoft.com/office/drawing/2014/main" id="{58B27555-754C-8C60-4909-8E3AE50C81D6}"/>
                </a:ext>
              </a:extLst>
            </p:cNvPr>
            <p:cNvSpPr/>
            <p:nvPr/>
          </p:nvSpPr>
          <p:spPr>
            <a:xfrm>
              <a:off x="5788152" y="3017520"/>
              <a:ext cx="365760" cy="0"/>
            </a:xfrm>
            <a:prstGeom prst="line">
              <a:avLst/>
            </a:prstGeom>
            <a:noFill/>
            <a:ln w="2540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0" name="Shape 63">
              <a:extLst>
                <a:ext uri="{FF2B5EF4-FFF2-40B4-BE49-F238E27FC236}">
                  <a16:creationId xmlns:a16="http://schemas.microsoft.com/office/drawing/2014/main" id="{386A6A77-9BD9-A3FB-7AF6-DF1B2D9F07B2}"/>
                </a:ext>
              </a:extLst>
            </p:cNvPr>
            <p:cNvSpPr/>
            <p:nvPr/>
          </p:nvSpPr>
          <p:spPr>
            <a:xfrm>
              <a:off x="6245352" y="2468880"/>
              <a:ext cx="201168" cy="201168"/>
            </a:xfrm>
            <a:prstGeom prst="ellipse">
              <a:avLst/>
            </a:prstGeom>
            <a:solidFill>
              <a:srgbClr val="7BB83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1" name="Shape 64">
              <a:extLst>
                <a:ext uri="{FF2B5EF4-FFF2-40B4-BE49-F238E27FC236}">
                  <a16:creationId xmlns:a16="http://schemas.microsoft.com/office/drawing/2014/main" id="{0DD46CD5-AB2A-1614-5EFA-9A5C803CA9FF}"/>
                </a:ext>
              </a:extLst>
            </p:cNvPr>
            <p:cNvSpPr/>
            <p:nvPr/>
          </p:nvSpPr>
          <p:spPr>
            <a:xfrm>
              <a:off x="6245352" y="2788920"/>
              <a:ext cx="201168" cy="201168"/>
            </a:xfrm>
            <a:prstGeom prst="ellipse">
              <a:avLst/>
            </a:prstGeom>
            <a:solidFill>
              <a:srgbClr val="7BB83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2" name="Shape 65">
              <a:extLst>
                <a:ext uri="{FF2B5EF4-FFF2-40B4-BE49-F238E27FC236}">
                  <a16:creationId xmlns:a16="http://schemas.microsoft.com/office/drawing/2014/main" id="{017A6AC7-60BC-FF87-28AF-FA02A43CB78A}"/>
                </a:ext>
              </a:extLst>
            </p:cNvPr>
            <p:cNvSpPr/>
            <p:nvPr/>
          </p:nvSpPr>
          <p:spPr>
            <a:xfrm>
              <a:off x="6245352" y="3108960"/>
              <a:ext cx="201168" cy="201168"/>
            </a:xfrm>
            <a:prstGeom prst="ellipse">
              <a:avLst/>
            </a:prstGeom>
            <a:solidFill>
              <a:srgbClr val="7BB83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3" name="Text 66">
              <a:extLst>
                <a:ext uri="{FF2B5EF4-FFF2-40B4-BE49-F238E27FC236}">
                  <a16:creationId xmlns:a16="http://schemas.microsoft.com/office/drawing/2014/main" id="{5C288070-1E64-D096-BBA4-FB264CF968C7}"/>
                </a:ext>
              </a:extLst>
            </p:cNvPr>
            <p:cNvSpPr/>
            <p:nvPr/>
          </p:nvSpPr>
          <p:spPr>
            <a:xfrm>
              <a:off x="6016752" y="3520440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7E708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Output</a:t>
              </a:r>
              <a:endParaRPr lang="en-US" sz="900" dirty="0"/>
            </a:p>
          </p:txBody>
        </p:sp>
      </p:grpSp>
      <p:pic>
        <p:nvPicPr>
          <p:cNvPr id="932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33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A CONVOLUTION PRODUCES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1089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 Maps and Channels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 kernel (filter) produces one feature map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1874520"/>
            <a:ext cx="1188720" cy="1188720"/>
          </a:xfrm>
          <a:prstGeom prst="rect">
            <a:avLst/>
          </a:prstGeom>
          <a:solidFill>
            <a:srgbClr val="E7E1F0"/>
          </a:solidFill>
          <a:ln w="1270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2468880"/>
            <a:ext cx="685800" cy="0"/>
          </a:xfrm>
          <a:prstGeom prst="line">
            <a:avLst/>
          </a:prstGeom>
          <a:noFill/>
          <a:ln w="2540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017520" y="21945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01752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kernel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2468880"/>
            <a:ext cx="685800" cy="0"/>
          </a:xfrm>
          <a:prstGeom prst="line">
            <a:avLst/>
          </a:prstGeom>
          <a:noFill/>
          <a:ln w="2540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5349240" y="1874520"/>
            <a:ext cx="1188720" cy="1188720"/>
          </a:xfrm>
          <a:prstGeom prst="rect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93776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 map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"where are vertical edges?"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0" y="2057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feature map is just an image that lights up where the kernel's pattern was found.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Many kernels (filter) → many channels (a stack of feature maps)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617720"/>
            <a:ext cx="1097280" cy="1097280"/>
          </a:xfrm>
          <a:prstGeom prst="rect">
            <a:avLst/>
          </a:prstGeom>
          <a:solidFill>
            <a:srgbClr val="E7E1F0"/>
          </a:solidFill>
          <a:ln w="12700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8840" y="5166360"/>
            <a:ext cx="685800" cy="0"/>
          </a:xfrm>
          <a:prstGeom prst="line">
            <a:avLst/>
          </a:prstGeom>
          <a:noFill/>
          <a:ln w="2540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2743200" y="4754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bank of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kernels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0" y="5166360"/>
            <a:ext cx="685800" cy="0"/>
          </a:xfrm>
          <a:prstGeom prst="line">
            <a:avLst/>
          </a:prstGeom>
          <a:noFill/>
          <a:ln w="2540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5468112" y="5056632"/>
            <a:ext cx="1097280" cy="1097280"/>
          </a:xfrm>
          <a:prstGeom prst="rect">
            <a:avLst/>
          </a:prstGeom>
          <a:solidFill>
            <a:srgbClr val="E7DCFA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5321808" y="4910328"/>
            <a:ext cx="1097280" cy="1097280"/>
          </a:xfrm>
          <a:prstGeom prst="rect">
            <a:avLst/>
          </a:prstGeom>
          <a:solidFill>
            <a:srgbClr val="EDF8DA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5175504" y="4764024"/>
            <a:ext cx="1097280" cy="1097280"/>
          </a:xfrm>
          <a:prstGeom prst="rect">
            <a:avLst/>
          </a:prstGeom>
          <a:solidFill>
            <a:srgbClr val="FCEBD4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5029200" y="4617720"/>
            <a:ext cx="1097280" cy="1097280"/>
          </a:xfrm>
          <a:prstGeom prst="rect">
            <a:avLst/>
          </a:prstGeom>
          <a:solidFill>
            <a:srgbClr val="E7DCFA"/>
          </a:solidFill>
          <a:ln w="1270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4480560" y="6217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stack of feature maps = channels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0" y="4572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Channels</a:t>
            </a: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are the depth of this stack. A color photo starts with 3 channels (red, green, blue). After a convolution layer you might have 64 channels, each detecting a different pattern. </a:t>
            </a:r>
            <a:r>
              <a:rPr lang="en-US" sz="12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Remember this — our workshop input has 3 channels too.</a:t>
            </a:r>
            <a:endParaRPr lang="en-US" sz="1200" dirty="0"/>
          </a:p>
        </p:txBody>
      </p:sp>
      <p:pic>
        <p:nvPicPr>
          <p:cNvPr id="933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DOWNSAMPLING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7239" y="7955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Pooling: Zooming Out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After finding patterns, we shrink the grid. Pooling keeps the strongest signal in each small region and discards exact pixel positions.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× 4 feature map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2423160"/>
            <a:ext cx="457200" cy="457200"/>
          </a:xfrm>
          <a:prstGeom prst="rect">
            <a:avLst/>
          </a:prstGeom>
          <a:solidFill>
            <a:srgbClr val="E7D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10972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54480" y="2423160"/>
            <a:ext cx="457200" cy="457200"/>
          </a:xfrm>
          <a:prstGeom prst="rect">
            <a:avLst/>
          </a:prstGeom>
          <a:solidFill>
            <a:srgbClr val="E7D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5544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2423160"/>
            <a:ext cx="457200" cy="457200"/>
          </a:xfrm>
          <a:prstGeom prst="rect">
            <a:avLst/>
          </a:prstGeom>
          <a:solidFill>
            <a:srgbClr val="FCEBD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2011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2423160"/>
            <a:ext cx="457200" cy="457200"/>
          </a:xfrm>
          <a:prstGeom prst="rect">
            <a:avLst/>
          </a:prstGeom>
          <a:solidFill>
            <a:srgbClr val="FCEBD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24688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2880360"/>
            <a:ext cx="457200" cy="457200"/>
          </a:xfrm>
          <a:prstGeom prst="rect">
            <a:avLst/>
          </a:prstGeom>
          <a:solidFill>
            <a:srgbClr val="E7D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0972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554480" y="2880360"/>
            <a:ext cx="457200" cy="457200"/>
          </a:xfrm>
          <a:prstGeom prst="rect">
            <a:avLst/>
          </a:prstGeom>
          <a:solidFill>
            <a:srgbClr val="E7D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15544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0" y="2880360"/>
            <a:ext cx="457200" cy="457200"/>
          </a:xfrm>
          <a:prstGeom prst="rect">
            <a:avLst/>
          </a:prstGeom>
          <a:solidFill>
            <a:srgbClr val="FCEBD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20116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468880" y="2880360"/>
            <a:ext cx="457200" cy="457200"/>
          </a:xfrm>
          <a:prstGeom prst="rect">
            <a:avLst/>
          </a:prstGeom>
          <a:solidFill>
            <a:srgbClr val="FCEBD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24688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" y="3337560"/>
            <a:ext cx="457200" cy="457200"/>
          </a:xfrm>
          <a:prstGeom prst="rect">
            <a:avLst/>
          </a:prstGeom>
          <a:solidFill>
            <a:srgbClr val="EDF8D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10972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554480" y="3337560"/>
            <a:ext cx="457200" cy="457200"/>
          </a:xfrm>
          <a:prstGeom prst="rect">
            <a:avLst/>
          </a:prstGeom>
          <a:solidFill>
            <a:srgbClr val="EDF8D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15544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011680" y="3337560"/>
            <a:ext cx="457200" cy="457200"/>
          </a:xfrm>
          <a:prstGeom prst="rect">
            <a:avLst/>
          </a:prstGeom>
          <a:solidFill>
            <a:srgbClr val="E7D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20116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468880" y="3337560"/>
            <a:ext cx="457200" cy="457200"/>
          </a:xfrm>
          <a:prstGeom prst="rect">
            <a:avLst/>
          </a:prstGeom>
          <a:solidFill>
            <a:srgbClr val="E7D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24688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97280" y="3794760"/>
            <a:ext cx="457200" cy="457200"/>
          </a:xfrm>
          <a:prstGeom prst="rect">
            <a:avLst/>
          </a:prstGeom>
          <a:solidFill>
            <a:srgbClr val="EDF8D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10972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554480" y="3794760"/>
            <a:ext cx="457200" cy="457200"/>
          </a:xfrm>
          <a:prstGeom prst="rect">
            <a:avLst/>
          </a:prstGeom>
          <a:solidFill>
            <a:srgbClr val="EDF8D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15544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011680" y="3794760"/>
            <a:ext cx="457200" cy="457200"/>
          </a:xfrm>
          <a:prstGeom prst="rect">
            <a:avLst/>
          </a:prstGeom>
          <a:solidFill>
            <a:srgbClr val="E7D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20116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468880" y="3794760"/>
            <a:ext cx="457200" cy="457200"/>
          </a:xfrm>
          <a:prstGeom prst="rect">
            <a:avLst/>
          </a:prstGeom>
          <a:solidFill>
            <a:srgbClr val="E7D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24688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154680" y="3337560"/>
            <a:ext cx="685800" cy="0"/>
          </a:xfrm>
          <a:prstGeom prst="line">
            <a:avLst/>
          </a:prstGeom>
          <a:noFill/>
          <a:ln w="2794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3063240" y="3566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keep the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max of each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2×2 block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023360" y="2880360"/>
            <a:ext cx="457200" cy="457200"/>
          </a:xfrm>
          <a:prstGeom prst="rect">
            <a:avLst/>
          </a:prstGeom>
          <a:solidFill>
            <a:srgbClr val="E7DCFA"/>
          </a:solidFill>
          <a:ln w="1905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40233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480560" y="2880360"/>
            <a:ext cx="457200" cy="457200"/>
          </a:xfrm>
          <a:prstGeom prst="rect">
            <a:avLst/>
          </a:prstGeom>
          <a:solidFill>
            <a:srgbClr val="FCEBD4"/>
          </a:solidFill>
          <a:ln w="1905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44805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023360" y="3337560"/>
            <a:ext cx="457200" cy="457200"/>
          </a:xfrm>
          <a:prstGeom prst="rect">
            <a:avLst/>
          </a:prstGeom>
          <a:solidFill>
            <a:srgbClr val="EDF8DA"/>
          </a:solidFill>
          <a:ln w="1905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4023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480560" y="3337560"/>
            <a:ext cx="457200" cy="457200"/>
          </a:xfrm>
          <a:prstGeom prst="rect">
            <a:avLst/>
          </a:prstGeom>
          <a:solidFill>
            <a:srgbClr val="E7DCFA"/>
          </a:solidFill>
          <a:ln w="19050">
            <a:solidFill>
              <a:srgbClr val="7E70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44805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023360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× 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98080" y="2103120"/>
            <a:ext cx="41148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5" name="Shape 53"/>
          <p:cNvSpPr/>
          <p:nvPr/>
        </p:nvSpPr>
        <p:spPr>
          <a:xfrm>
            <a:off x="7498080" y="2103120"/>
            <a:ext cx="64008" cy="310896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777240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pool?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7790688" y="2752344"/>
            <a:ext cx="128016" cy="128016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804672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Fewer numbers to process → faster and lighter.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790688" y="3593592"/>
            <a:ext cx="128016" cy="128016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8046720" y="35387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Bigger picture: each later neuron now "sees" a larger area of the original image.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790688" y="4434840"/>
            <a:ext cx="128016" cy="128016"/>
          </a:xfrm>
          <a:prstGeom prst="ellipse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8046720" y="437997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Small shifts no longer matter — the network focuses on what is present, not its exact pixel.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CEBD4"/>
          </a:solidFill>
          <a:ln w="12700">
            <a:solidFill>
              <a:srgbClr val="F0A7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Trade-off to remember: 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pooling gains efficiency and a wider view, but throws away precise location. For our task we will need to recover that location later — keep this in mind.</a:t>
            </a:r>
            <a:endParaRPr lang="en-US" sz="1300" dirty="0"/>
          </a:p>
        </p:txBody>
      </p:sp>
      <p:pic>
        <p:nvPicPr>
          <p:cNvPr id="934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EDGES TO OBJECTS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8815" y="864107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Stacking Layers Builds a Hierarchy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9496" y="144478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Each convolution-and-pool block sees a wider area and combines simpler patterns into richer ones. Depth turns pixels into meaning.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017520"/>
            <a:ext cx="1554480" cy="1554480"/>
          </a:xfrm>
          <a:prstGeom prst="rect">
            <a:avLst/>
          </a:prstGeom>
          <a:solidFill>
            <a:srgbClr val="E7E1F0"/>
          </a:solidFill>
          <a:ln w="19050">
            <a:solidFill>
              <a:srgbClr val="2C1A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Raw pixels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056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brightness values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3794760"/>
            <a:ext cx="704088" cy="0"/>
          </a:xfrm>
          <a:prstGeom prst="line">
            <a:avLst/>
          </a:prstGeom>
          <a:noFill/>
          <a:ln w="2540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3218688" y="3154680"/>
            <a:ext cx="1280160" cy="1280160"/>
          </a:xfrm>
          <a:prstGeom prst="rect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2852928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Edges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52928" y="5056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lines, gradients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3794760"/>
            <a:ext cx="841248" cy="0"/>
          </a:xfrm>
          <a:prstGeom prst="line">
            <a:avLst/>
          </a:prstGeom>
          <a:noFill/>
          <a:ln w="2540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5568696" y="3291840"/>
            <a:ext cx="1005840" cy="1005840"/>
          </a:xfrm>
          <a:prstGeom prst="rect">
            <a:avLst/>
          </a:prstGeom>
          <a:solidFill>
            <a:srgbClr val="E7DCFA"/>
          </a:solidFill>
          <a:ln w="1905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065776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Textures &amp; corners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65776" y="5056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combinations of edges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94576" y="3794760"/>
            <a:ext cx="955548" cy="0"/>
          </a:xfrm>
          <a:prstGeom prst="line">
            <a:avLst/>
          </a:prstGeom>
          <a:noFill/>
          <a:ln w="2540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7895844" y="3406140"/>
            <a:ext cx="777240" cy="777240"/>
          </a:xfrm>
          <a:prstGeom prst="rect">
            <a:avLst/>
          </a:prstGeom>
          <a:solidFill>
            <a:srgbClr val="FCEBD4"/>
          </a:solidFill>
          <a:ln w="1905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7278624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Parts &amp; shapes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78624" y="5056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openings, wheels, eyes…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07424" y="3794760"/>
            <a:ext cx="1046988" cy="0"/>
          </a:xfrm>
          <a:prstGeom prst="line">
            <a:avLst/>
          </a:prstGeom>
          <a:noFill/>
          <a:ln w="2540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10200132" y="3497580"/>
            <a:ext cx="594360" cy="594360"/>
          </a:xfrm>
          <a:prstGeom prst="rect">
            <a:avLst/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9491472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Whole objects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91472" y="5056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full concept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" y="2377440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deeper into the network  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E7DCFA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914400" y="5577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This shrinking, deepening path has a name: the </a:t>
            </a:r>
            <a:r>
              <a:rPr lang="en-US" sz="14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encoder</a:t>
            </a:r>
            <a:r>
              <a:rPr lang="en-US" sz="14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 It compresses an image into a compact summary of "what is in it."</a:t>
            </a:r>
            <a:endParaRPr lang="en-US" sz="1400" dirty="0"/>
          </a:p>
        </p:txBody>
      </p:sp>
      <p:pic>
        <p:nvPicPr>
          <p:cNvPr id="935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36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IMAGE TO ANSWER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Putting It Together: A CNN Pipeline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Here is how the pieces we just met combine into a classic CNN. Data flows left to right; each stage has one clear job.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489926" cy="1234440"/>
          </a:xfrm>
          <a:prstGeom prst="roundRect">
            <a:avLst>
              <a:gd name="adj" fmla="val 5926"/>
            </a:avLst>
          </a:prstGeom>
          <a:solidFill>
            <a:srgbClr val="E7DCFA"/>
          </a:solidFill>
          <a:ln w="15875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85216" y="2304288"/>
            <a:ext cx="1416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2651760"/>
            <a:ext cx="134362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raw image (a grid of pixels / channels)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43138" y="2811780"/>
            <a:ext cx="101221" cy="0"/>
          </a:xfrm>
          <a:prstGeom prst="line">
            <a:avLst/>
          </a:prstGeom>
          <a:noFill/>
          <a:ln w="2032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2148931" y="2194560"/>
            <a:ext cx="1489926" cy="1234440"/>
          </a:xfrm>
          <a:prstGeom prst="roundRect">
            <a:avLst>
              <a:gd name="adj" fmla="val 5926"/>
            </a:avLst>
          </a:prstGeom>
          <a:solidFill>
            <a:srgbClr val="E7DCFA"/>
          </a:solidFill>
          <a:ln w="15875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2185507" y="2304288"/>
            <a:ext cx="1416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Convolution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22083" y="2651760"/>
            <a:ext cx="134362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slide learned filters to detect local patterns → feature maps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43429" y="2811780"/>
            <a:ext cx="101221" cy="0"/>
          </a:xfrm>
          <a:prstGeom prst="line">
            <a:avLst/>
          </a:prstGeom>
          <a:noFill/>
          <a:ln w="2032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749222" y="2194560"/>
            <a:ext cx="1489926" cy="1234440"/>
          </a:xfrm>
          <a:prstGeom prst="roundRect">
            <a:avLst>
              <a:gd name="adj" fmla="val 5926"/>
            </a:avLst>
          </a:prstGeom>
          <a:solidFill>
            <a:srgbClr val="FCEBD4"/>
          </a:solidFill>
          <a:ln w="15875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785798" y="2304288"/>
            <a:ext cx="1416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ReLU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22374" y="2651760"/>
            <a:ext cx="134362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keep positives, zero negatives — adds the nonlinearity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43720" y="2811780"/>
            <a:ext cx="101221" cy="0"/>
          </a:xfrm>
          <a:prstGeom prst="line">
            <a:avLst/>
          </a:prstGeom>
          <a:noFill/>
          <a:ln w="2032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5349513" y="2194560"/>
            <a:ext cx="1489926" cy="1234440"/>
          </a:xfrm>
          <a:prstGeom prst="roundRect">
            <a:avLst>
              <a:gd name="adj" fmla="val 5926"/>
            </a:avLst>
          </a:prstGeom>
          <a:solidFill>
            <a:srgbClr val="D6F4FB"/>
          </a:solidFill>
          <a:ln w="15875">
            <a:solidFill>
              <a:srgbClr val="29B6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386089" y="2304288"/>
            <a:ext cx="1416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Pooling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22665" y="2651760"/>
            <a:ext cx="134362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shrink the grid, keep the strongest signals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44011" y="2811780"/>
            <a:ext cx="101221" cy="0"/>
          </a:xfrm>
          <a:prstGeom prst="line">
            <a:avLst/>
          </a:prstGeom>
          <a:noFill/>
          <a:ln w="2032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6949804" y="2194560"/>
            <a:ext cx="1489926" cy="1234440"/>
          </a:xfrm>
          <a:prstGeom prst="roundRect">
            <a:avLst>
              <a:gd name="adj" fmla="val 5926"/>
            </a:avLst>
          </a:prstGeom>
          <a:solidFill>
            <a:srgbClr val="E7DCFA"/>
          </a:solidFill>
          <a:ln w="15875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986380" y="2304288"/>
            <a:ext cx="1416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Flatten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022956" y="2651760"/>
            <a:ext cx="134362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unroll the final maps into a single long vector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444302" y="2811780"/>
            <a:ext cx="101221" cy="0"/>
          </a:xfrm>
          <a:prstGeom prst="line">
            <a:avLst/>
          </a:prstGeom>
          <a:noFill/>
          <a:ln w="2032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8550095" y="2194560"/>
            <a:ext cx="1489926" cy="1234440"/>
          </a:xfrm>
          <a:prstGeom prst="roundRect">
            <a:avLst>
              <a:gd name="adj" fmla="val 5926"/>
            </a:avLst>
          </a:prstGeom>
          <a:solidFill>
            <a:srgbClr val="E7DCFA"/>
          </a:solidFill>
          <a:ln w="15875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8586671" y="2304288"/>
            <a:ext cx="1416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Dense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623247" y="2651760"/>
            <a:ext cx="134362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fully-connected layers combine everything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044593" y="2811780"/>
            <a:ext cx="101221" cy="0"/>
          </a:xfrm>
          <a:prstGeom prst="line">
            <a:avLst/>
          </a:prstGeom>
          <a:noFill/>
          <a:ln w="2032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10150386" y="2194560"/>
            <a:ext cx="1489926" cy="1234440"/>
          </a:xfrm>
          <a:prstGeom prst="roundRect">
            <a:avLst>
              <a:gd name="adj" fmla="val 5926"/>
            </a:avLst>
          </a:prstGeom>
          <a:solidFill>
            <a:srgbClr val="EDF8DA"/>
          </a:solidFill>
          <a:ln w="15875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10186962" y="2304288"/>
            <a:ext cx="1416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223538" y="2651760"/>
            <a:ext cx="134362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prediction (a class, a number, or a field)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48931" y="2029968"/>
            <a:ext cx="4690508" cy="0"/>
          </a:xfrm>
          <a:prstGeom prst="line">
            <a:avLst/>
          </a:prstGeom>
          <a:noFill/>
          <a:ln w="17780">
            <a:solidFill>
              <a:srgbClr val="8F55E0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3031145" y="1844801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3031145" y="1812797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this block repeats, going deeper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37033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>
            <a:off x="548640" y="3703320"/>
            <a:ext cx="64008" cy="141732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777240" y="382219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 extractor  (conv + ReLU + pool)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77240" y="41605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Stacked convolution–ReLU–pooling blocks turn raw pixels into increasingly abstract features — edges, then textures, then shapes. This is the part we keep for the U-Net.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0" y="37033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5" name="Shape 43"/>
          <p:cNvSpPr/>
          <p:nvPr/>
        </p:nvSpPr>
        <p:spPr>
          <a:xfrm>
            <a:off x="6217920" y="3703320"/>
            <a:ext cx="64008" cy="141732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6446520" y="382219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Classifier head  (flatten + dense)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46520" y="41605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Flatten + dense layers collapse the features into a final answer. Great for one output (“cat”) — but it throws away spatial layout, which we will need to fix for fields.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7DCFA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914400" y="53492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Toward U-Net: 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this CNN ends in a single answer. Our task needs a full output image, so we will keep the feature-extractor half and replace the flatten/dense head with a decoder that rebuilds a field — that is the encoder–decoder, next.</a:t>
            </a:r>
            <a:endParaRPr lang="en-US" sz="1300" dirty="0"/>
          </a:p>
        </p:txBody>
      </p:sp>
      <p:pic>
        <p:nvPicPr>
          <p:cNvPr id="936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 THE OUTPUT IS ALSO AN IMAGE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81381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Encoder–Decoder: Predicting a Whole Image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Classifying an image needs one answer ("cat"). But our task needs a full output image — a value at every pixel. For that, we add a decoder that expands the summary back to full size.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651760"/>
            <a:ext cx="640080" cy="2377440"/>
          </a:xfrm>
          <a:prstGeom prst="rect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2011680" y="2926080"/>
            <a:ext cx="640080" cy="1828800"/>
          </a:xfrm>
          <a:prstGeom prst="rect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2926080" y="3200400"/>
            <a:ext cx="640080" cy="1280160"/>
          </a:xfrm>
          <a:prstGeom prst="rect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886200" y="3429000"/>
            <a:ext cx="640080" cy="822960"/>
          </a:xfrm>
          <a:prstGeom prst="rect">
            <a:avLst/>
          </a:prstGeom>
          <a:solidFill>
            <a:srgbClr val="F0A757"/>
          </a:solidFill>
          <a:ln w="1905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4846320" y="3200400"/>
            <a:ext cx="640080" cy="1280160"/>
          </a:xfrm>
          <a:prstGeom prst="rect">
            <a:avLst/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5760720" y="2926080"/>
            <a:ext cx="640080" cy="1828800"/>
          </a:xfrm>
          <a:prstGeom prst="rect">
            <a:avLst/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6675120" y="2651760"/>
            <a:ext cx="640080" cy="2377440"/>
          </a:xfrm>
          <a:prstGeom prst="rect">
            <a:avLst/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320040" y="3337560"/>
            <a:ext cx="502920" cy="1005840"/>
          </a:xfrm>
          <a:prstGeom prst="rect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182880" y="4389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52360" y="3337560"/>
            <a:ext cx="502920" cy="100584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7315200" y="4389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68680" y="3840480"/>
            <a:ext cx="182880" cy="0"/>
          </a:xfrm>
          <a:prstGeom prst="line">
            <a:avLst/>
          </a:prstGeom>
          <a:noFill/>
          <a:ln w="2032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7360920" y="3840480"/>
            <a:ext cx="45720" cy="0"/>
          </a:xfrm>
          <a:prstGeom prst="line">
            <a:avLst/>
          </a:prstGeom>
          <a:noFill/>
          <a:ln w="2032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1097280" y="5257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ENCODER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532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shrinks → "what is here"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5257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DECODER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5532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expands → "rebuild the image"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315468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bottleneck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0" y="2148840"/>
            <a:ext cx="3200400" cy="3383280"/>
          </a:xfrm>
          <a:prstGeom prst="rect">
            <a:avLst/>
          </a:prstGeom>
          <a:solidFill>
            <a:srgbClr val="FBD7E5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8412480" y="2148840"/>
            <a:ext cx="64008" cy="33832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86410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But there's a catch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41080" y="26974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encoder threw away precise locations when it pooled. So the decoder, working only from the tiny bottleneck, produces a blurry output — </a:t>
            </a:r>
            <a:r>
              <a:rPr lang="en-US" sz="1200" b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knows what, but not exactly where.</a:t>
            </a:r>
            <a:endParaRPr lang="en-US" sz="1200" b="1" dirty="0"/>
          </a:p>
        </p:txBody>
      </p:sp>
      <p:sp>
        <p:nvSpPr>
          <p:cNvPr id="32" name="Text 30"/>
          <p:cNvSpPr/>
          <p:nvPr/>
        </p:nvSpPr>
        <p:spPr>
          <a:xfrm>
            <a:off x="8641080" y="4983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do we get the sharp detail back?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5806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answer is the single idea that turns a plain encoder–decoder into a U-Net.</a:t>
            </a:r>
            <a:endParaRPr lang="en-US" sz="1400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06CD428D-2F2D-FF8C-2E3A-FC1FD16F4FA5}"/>
              </a:ext>
            </a:extLst>
          </p:cNvPr>
          <p:cNvSpPr/>
          <p:nvPr/>
        </p:nvSpPr>
        <p:spPr>
          <a:xfrm>
            <a:off x="1818749" y="3827508"/>
            <a:ext cx="182880" cy="0"/>
          </a:xfrm>
          <a:prstGeom prst="line">
            <a:avLst/>
          </a:prstGeom>
          <a:noFill/>
          <a:ln w="2032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84283ABC-601A-B1A7-B6D4-96C555A805F4}"/>
              </a:ext>
            </a:extLst>
          </p:cNvPr>
          <p:cNvSpPr/>
          <p:nvPr/>
        </p:nvSpPr>
        <p:spPr>
          <a:xfrm>
            <a:off x="2710450" y="3814536"/>
            <a:ext cx="182880" cy="0"/>
          </a:xfrm>
          <a:prstGeom prst="line">
            <a:avLst/>
          </a:prstGeom>
          <a:noFill/>
          <a:ln w="2032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D4B94246-AEC7-BDC5-5CDF-7663D7580EEB}"/>
              </a:ext>
            </a:extLst>
          </p:cNvPr>
          <p:cNvSpPr/>
          <p:nvPr/>
        </p:nvSpPr>
        <p:spPr>
          <a:xfrm>
            <a:off x="3650791" y="3801564"/>
            <a:ext cx="182880" cy="0"/>
          </a:xfrm>
          <a:prstGeom prst="line">
            <a:avLst/>
          </a:prstGeom>
          <a:noFill/>
          <a:ln w="2032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37675BB1-2956-C3D1-F997-B0275F556303}"/>
              </a:ext>
            </a:extLst>
          </p:cNvPr>
          <p:cNvSpPr/>
          <p:nvPr/>
        </p:nvSpPr>
        <p:spPr>
          <a:xfrm>
            <a:off x="4610588" y="3788592"/>
            <a:ext cx="182880" cy="0"/>
          </a:xfrm>
          <a:prstGeom prst="line">
            <a:avLst/>
          </a:prstGeom>
          <a:noFill/>
          <a:ln w="2032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27B5114B-11DE-D84A-CC16-A8C64F47AA56}"/>
              </a:ext>
            </a:extLst>
          </p:cNvPr>
          <p:cNvSpPr/>
          <p:nvPr/>
        </p:nvSpPr>
        <p:spPr>
          <a:xfrm>
            <a:off x="5550929" y="3775620"/>
            <a:ext cx="182880" cy="0"/>
          </a:xfrm>
          <a:prstGeom prst="line">
            <a:avLst/>
          </a:prstGeom>
          <a:noFill/>
          <a:ln w="2032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F6110F77-F348-DBA0-4383-24E01C3F45BA}"/>
              </a:ext>
            </a:extLst>
          </p:cNvPr>
          <p:cNvSpPr/>
          <p:nvPr/>
        </p:nvSpPr>
        <p:spPr>
          <a:xfrm>
            <a:off x="6462086" y="3762648"/>
            <a:ext cx="182880" cy="0"/>
          </a:xfrm>
          <a:prstGeom prst="line">
            <a:avLst/>
          </a:prstGeom>
          <a:noFill/>
          <a:ln w="2032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pic>
        <p:nvPicPr>
          <p:cNvPr id="937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38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ARCHITECTURE WE WILL BUILD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732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Skip Connections: Meet the U-Net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Skip connections copy the sharp, high-resolution detail from each encoder level straight across to the matching decoder level — restoring the "where" the bottleneck lost.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2240280"/>
            <a:ext cx="502920" cy="1828800"/>
          </a:xfrm>
          <a:prstGeom prst="rect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2286000" y="2743200"/>
            <a:ext cx="502920" cy="1417320"/>
          </a:xfrm>
          <a:prstGeom prst="rect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3108960" y="3200400"/>
            <a:ext cx="502920" cy="1051560"/>
          </a:xfrm>
          <a:prstGeom prst="rect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931920" y="3611880"/>
            <a:ext cx="502920" cy="731520"/>
          </a:xfrm>
          <a:prstGeom prst="rect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4617720" y="3840480"/>
            <a:ext cx="182880" cy="640080"/>
          </a:xfrm>
          <a:prstGeom prst="rect">
            <a:avLst/>
          </a:prstGeom>
          <a:solidFill>
            <a:srgbClr val="F0A757"/>
          </a:solidFill>
          <a:ln w="1905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7498080" y="2240280"/>
            <a:ext cx="502920" cy="1828800"/>
          </a:xfrm>
          <a:prstGeom prst="rect">
            <a:avLst/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6675120" y="2743200"/>
            <a:ext cx="502920" cy="1417320"/>
          </a:xfrm>
          <a:prstGeom prst="rect">
            <a:avLst/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5852160" y="3200400"/>
            <a:ext cx="502920" cy="1051560"/>
          </a:xfrm>
          <a:prstGeom prst="rect">
            <a:avLst/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5029200" y="3611880"/>
            <a:ext cx="502920" cy="731520"/>
          </a:xfrm>
          <a:prstGeom prst="rect">
            <a:avLst/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1965960" y="3154680"/>
            <a:ext cx="320040" cy="297180"/>
          </a:xfrm>
          <a:prstGeom prst="line">
            <a:avLst/>
          </a:prstGeom>
          <a:noFill/>
          <a:ln w="17780">
            <a:solidFill>
              <a:srgbClr val="6B36C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2788920" y="3451860"/>
            <a:ext cx="320040" cy="274320"/>
          </a:xfrm>
          <a:prstGeom prst="line">
            <a:avLst/>
          </a:prstGeom>
          <a:noFill/>
          <a:ln w="17780">
            <a:solidFill>
              <a:srgbClr val="6B36C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3611880" y="3726180"/>
            <a:ext cx="320040" cy="251460"/>
          </a:xfrm>
          <a:prstGeom prst="line">
            <a:avLst/>
          </a:prstGeom>
          <a:noFill/>
          <a:ln w="17780">
            <a:solidFill>
              <a:srgbClr val="6B36C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 flipV="1">
            <a:off x="4434840" y="4161709"/>
            <a:ext cx="182880" cy="0"/>
          </a:xfrm>
          <a:prstGeom prst="line">
            <a:avLst/>
          </a:prstGeom>
          <a:noFill/>
          <a:ln w="1778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 flipV="1">
            <a:off x="4800600" y="4161709"/>
            <a:ext cx="228600" cy="0"/>
          </a:xfrm>
          <a:prstGeom prst="line">
            <a:avLst/>
          </a:prstGeom>
          <a:noFill/>
          <a:ln w="1778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 flipV="1">
            <a:off x="5532120" y="3726180"/>
            <a:ext cx="320040" cy="251460"/>
          </a:xfrm>
          <a:prstGeom prst="line">
            <a:avLst/>
          </a:prstGeom>
          <a:noFill/>
          <a:ln w="1778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 flipV="1">
            <a:off x="6355080" y="3451860"/>
            <a:ext cx="320040" cy="274320"/>
          </a:xfrm>
          <a:prstGeom prst="line">
            <a:avLst/>
          </a:prstGeom>
          <a:noFill/>
          <a:ln w="1778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 flipV="1">
            <a:off x="7178040" y="3154680"/>
            <a:ext cx="320040" cy="297180"/>
          </a:xfrm>
          <a:prstGeom prst="line">
            <a:avLst/>
          </a:prstGeom>
          <a:noFill/>
          <a:ln w="1778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8001000" y="3154680"/>
            <a:ext cx="411480" cy="0"/>
          </a:xfrm>
          <a:prstGeom prst="line">
            <a:avLst/>
          </a:prstGeom>
          <a:noFill/>
          <a:ln w="2032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8458200" y="2651760"/>
            <a:ext cx="457200" cy="100584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8321040" y="37033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field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68680" y="2651760"/>
            <a:ext cx="457200" cy="1005840"/>
          </a:xfrm>
          <a:prstGeom prst="rect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31520" y="37033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25880" y="3154680"/>
            <a:ext cx="137160" cy="0"/>
          </a:xfrm>
          <a:prstGeom prst="line">
            <a:avLst/>
          </a:prstGeom>
          <a:noFill/>
          <a:ln w="2032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DC3C917-CED3-74BA-AA3A-38CBF9ECF99E}"/>
              </a:ext>
            </a:extLst>
          </p:cNvPr>
          <p:cNvGrpSpPr/>
          <p:nvPr/>
        </p:nvGrpSpPr>
        <p:grpSpPr>
          <a:xfrm>
            <a:off x="1714500" y="1874520"/>
            <a:ext cx="6035040" cy="1737360"/>
            <a:chOff x="1714500" y="1874520"/>
            <a:chExt cx="6035040" cy="1737360"/>
          </a:xfrm>
        </p:grpSpPr>
        <p:sp>
          <p:nvSpPr>
            <p:cNvPr id="33" name="Shape 31"/>
            <p:cNvSpPr/>
            <p:nvPr/>
          </p:nvSpPr>
          <p:spPr>
            <a:xfrm flipV="1">
              <a:off x="1714500" y="1874520"/>
              <a:ext cx="0" cy="36576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Shape 32"/>
            <p:cNvSpPr/>
            <p:nvPr/>
          </p:nvSpPr>
          <p:spPr>
            <a:xfrm>
              <a:off x="1714500" y="1874520"/>
              <a:ext cx="6035040" cy="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Shape 33"/>
            <p:cNvSpPr/>
            <p:nvPr/>
          </p:nvSpPr>
          <p:spPr>
            <a:xfrm>
              <a:off x="7749540" y="1874520"/>
              <a:ext cx="0" cy="36576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Shape 34"/>
            <p:cNvSpPr/>
            <p:nvPr/>
          </p:nvSpPr>
          <p:spPr>
            <a:xfrm flipV="1">
              <a:off x="2537460" y="2331720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Shape 35"/>
            <p:cNvSpPr/>
            <p:nvPr/>
          </p:nvSpPr>
          <p:spPr>
            <a:xfrm>
              <a:off x="2537460" y="2331720"/>
              <a:ext cx="4389120" cy="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Shape 36"/>
            <p:cNvSpPr/>
            <p:nvPr/>
          </p:nvSpPr>
          <p:spPr>
            <a:xfrm>
              <a:off x="6926580" y="2331720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Shape 37"/>
            <p:cNvSpPr/>
            <p:nvPr/>
          </p:nvSpPr>
          <p:spPr>
            <a:xfrm flipV="1">
              <a:off x="3360420" y="2788920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Shape 38"/>
            <p:cNvSpPr/>
            <p:nvPr/>
          </p:nvSpPr>
          <p:spPr>
            <a:xfrm>
              <a:off x="3360420" y="2788920"/>
              <a:ext cx="2743200" cy="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Shape 39"/>
            <p:cNvSpPr/>
            <p:nvPr/>
          </p:nvSpPr>
          <p:spPr>
            <a:xfrm>
              <a:off x="6103620" y="2788920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Shape 40"/>
            <p:cNvSpPr/>
            <p:nvPr/>
          </p:nvSpPr>
          <p:spPr>
            <a:xfrm flipV="1">
              <a:off x="4183380" y="3200400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Shape 41"/>
            <p:cNvSpPr/>
            <p:nvPr/>
          </p:nvSpPr>
          <p:spPr>
            <a:xfrm>
              <a:off x="4183380" y="3200400"/>
              <a:ext cx="1097280" cy="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Shape 42"/>
            <p:cNvSpPr/>
            <p:nvPr/>
          </p:nvSpPr>
          <p:spPr>
            <a:xfrm>
              <a:off x="5280660" y="3200400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5" name="Text 43"/>
          <p:cNvSpPr/>
          <p:nvPr/>
        </p:nvSpPr>
        <p:spPr>
          <a:xfrm>
            <a:off x="2811780" y="1968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skip connections (copy detail across)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371600" y="4526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ENCODER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20640" y="4526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DECODER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371600" y="4818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shape draws a "U" — hence U-Net.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144000" y="2240280"/>
            <a:ext cx="2468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0" name="Shape 48"/>
          <p:cNvSpPr/>
          <p:nvPr/>
        </p:nvSpPr>
        <p:spPr>
          <a:xfrm>
            <a:off x="9144000" y="2240280"/>
            <a:ext cx="64008" cy="320040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9345168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345168" y="292608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encoder finds what is in the image; the decoder rebuilds it; the skip connections keep edges and boundaries crisp.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9345168" y="457200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Perfect for turning one field into another, pixel-for-pixel.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48640" y="589788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Text 53"/>
          <p:cNvSpPr/>
          <p:nvPr/>
        </p:nvSpPr>
        <p:spPr>
          <a:xfrm>
            <a:off x="548640" y="5897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 now have the full toolkit.  </a:t>
            </a:r>
            <a:endParaRPr lang="en-US" sz="1300" dirty="0"/>
          </a:p>
        </p:txBody>
      </p:sp>
      <p:pic>
        <p:nvPicPr>
          <p:cNvPr id="938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1C7C4E8-4295-9D4A-3DEF-B164B403A60B}"/>
              </a:ext>
            </a:extLst>
          </p:cNvPr>
          <p:cNvGrpSpPr/>
          <p:nvPr/>
        </p:nvGrpSpPr>
        <p:grpSpPr>
          <a:xfrm>
            <a:off x="1328806" y="1495500"/>
            <a:ext cx="9403324" cy="2075113"/>
            <a:chOff x="1714500" y="1874520"/>
            <a:chExt cx="6035040" cy="2075113"/>
          </a:xfrm>
        </p:grpSpPr>
        <p:sp>
          <p:nvSpPr>
            <p:cNvPr id="121" name="Shape 31">
              <a:extLst>
                <a:ext uri="{FF2B5EF4-FFF2-40B4-BE49-F238E27FC236}">
                  <a16:creationId xmlns:a16="http://schemas.microsoft.com/office/drawing/2014/main" id="{C6AF5FA8-E2DE-A7B9-C50E-93F468330692}"/>
                </a:ext>
              </a:extLst>
            </p:cNvPr>
            <p:cNvSpPr/>
            <p:nvPr/>
          </p:nvSpPr>
          <p:spPr>
            <a:xfrm flipV="1">
              <a:off x="1714500" y="1874520"/>
              <a:ext cx="0" cy="36576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2" name="Shape 32">
              <a:extLst>
                <a:ext uri="{FF2B5EF4-FFF2-40B4-BE49-F238E27FC236}">
                  <a16:creationId xmlns:a16="http://schemas.microsoft.com/office/drawing/2014/main" id="{A1DBDF22-EEA2-E4CC-8DA1-43C44C444786}"/>
                </a:ext>
              </a:extLst>
            </p:cNvPr>
            <p:cNvSpPr/>
            <p:nvPr/>
          </p:nvSpPr>
          <p:spPr>
            <a:xfrm>
              <a:off x="1714500" y="1874520"/>
              <a:ext cx="6035040" cy="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3" name="Shape 33">
              <a:extLst>
                <a:ext uri="{FF2B5EF4-FFF2-40B4-BE49-F238E27FC236}">
                  <a16:creationId xmlns:a16="http://schemas.microsoft.com/office/drawing/2014/main" id="{2C04A0CA-7022-CA3B-817F-63B3077A269B}"/>
                </a:ext>
              </a:extLst>
            </p:cNvPr>
            <p:cNvSpPr/>
            <p:nvPr/>
          </p:nvSpPr>
          <p:spPr>
            <a:xfrm>
              <a:off x="7749540" y="1874520"/>
              <a:ext cx="0" cy="36576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4" name="Shape 34">
              <a:extLst>
                <a:ext uri="{FF2B5EF4-FFF2-40B4-BE49-F238E27FC236}">
                  <a16:creationId xmlns:a16="http://schemas.microsoft.com/office/drawing/2014/main" id="{3146270C-A053-EAEE-9A9A-4C3763950661}"/>
                </a:ext>
              </a:extLst>
            </p:cNvPr>
            <p:cNvSpPr/>
            <p:nvPr/>
          </p:nvSpPr>
          <p:spPr>
            <a:xfrm flipV="1">
              <a:off x="2537460" y="2331720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5" name="Shape 35">
              <a:extLst>
                <a:ext uri="{FF2B5EF4-FFF2-40B4-BE49-F238E27FC236}">
                  <a16:creationId xmlns:a16="http://schemas.microsoft.com/office/drawing/2014/main" id="{7D7F8F13-41DB-C3F5-A293-4B7896BB727C}"/>
                </a:ext>
              </a:extLst>
            </p:cNvPr>
            <p:cNvSpPr/>
            <p:nvPr/>
          </p:nvSpPr>
          <p:spPr>
            <a:xfrm>
              <a:off x="2537460" y="2331720"/>
              <a:ext cx="4389120" cy="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6" name="Shape 36">
              <a:extLst>
                <a:ext uri="{FF2B5EF4-FFF2-40B4-BE49-F238E27FC236}">
                  <a16:creationId xmlns:a16="http://schemas.microsoft.com/office/drawing/2014/main" id="{5584966F-2DFF-9CCA-210C-46153533C208}"/>
                </a:ext>
              </a:extLst>
            </p:cNvPr>
            <p:cNvSpPr/>
            <p:nvPr/>
          </p:nvSpPr>
          <p:spPr>
            <a:xfrm>
              <a:off x="6926580" y="2331720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7" name="Shape 37">
              <a:extLst>
                <a:ext uri="{FF2B5EF4-FFF2-40B4-BE49-F238E27FC236}">
                  <a16:creationId xmlns:a16="http://schemas.microsoft.com/office/drawing/2014/main" id="{00013FD6-090D-073B-B2C6-6B5529C2C0E7}"/>
                </a:ext>
              </a:extLst>
            </p:cNvPr>
            <p:cNvSpPr/>
            <p:nvPr/>
          </p:nvSpPr>
          <p:spPr>
            <a:xfrm flipV="1">
              <a:off x="3360420" y="2920728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8" name="Shape 38">
              <a:extLst>
                <a:ext uri="{FF2B5EF4-FFF2-40B4-BE49-F238E27FC236}">
                  <a16:creationId xmlns:a16="http://schemas.microsoft.com/office/drawing/2014/main" id="{0D3D13B8-38C6-0C56-ACF8-821B8CAF9EE4}"/>
                </a:ext>
              </a:extLst>
            </p:cNvPr>
            <p:cNvSpPr/>
            <p:nvPr/>
          </p:nvSpPr>
          <p:spPr>
            <a:xfrm>
              <a:off x="3360420" y="2920728"/>
              <a:ext cx="2743200" cy="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9" name="Shape 39">
              <a:extLst>
                <a:ext uri="{FF2B5EF4-FFF2-40B4-BE49-F238E27FC236}">
                  <a16:creationId xmlns:a16="http://schemas.microsoft.com/office/drawing/2014/main" id="{9817F4DA-1B14-EAA7-1F1C-F4FCF5F820FC}"/>
                </a:ext>
              </a:extLst>
            </p:cNvPr>
            <p:cNvSpPr/>
            <p:nvPr/>
          </p:nvSpPr>
          <p:spPr>
            <a:xfrm>
              <a:off x="6103620" y="2920728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0" name="Shape 40">
              <a:extLst>
                <a:ext uri="{FF2B5EF4-FFF2-40B4-BE49-F238E27FC236}">
                  <a16:creationId xmlns:a16="http://schemas.microsoft.com/office/drawing/2014/main" id="{BA545443-8E15-A8E4-A328-4B1EC379BE93}"/>
                </a:ext>
              </a:extLst>
            </p:cNvPr>
            <p:cNvSpPr/>
            <p:nvPr/>
          </p:nvSpPr>
          <p:spPr>
            <a:xfrm flipV="1">
              <a:off x="4183380" y="3538153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" name="Shape 41">
              <a:extLst>
                <a:ext uri="{FF2B5EF4-FFF2-40B4-BE49-F238E27FC236}">
                  <a16:creationId xmlns:a16="http://schemas.microsoft.com/office/drawing/2014/main" id="{952874A4-4EB9-5F74-345B-82E92D7ECAD4}"/>
                </a:ext>
              </a:extLst>
            </p:cNvPr>
            <p:cNvSpPr/>
            <p:nvPr/>
          </p:nvSpPr>
          <p:spPr>
            <a:xfrm>
              <a:off x="4183380" y="3538153"/>
              <a:ext cx="1097280" cy="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" name="Shape 42">
              <a:extLst>
                <a:ext uri="{FF2B5EF4-FFF2-40B4-BE49-F238E27FC236}">
                  <a16:creationId xmlns:a16="http://schemas.microsoft.com/office/drawing/2014/main" id="{B250225D-F165-8760-7635-0E7A69A0EB74}"/>
                </a:ext>
              </a:extLst>
            </p:cNvPr>
            <p:cNvSpPr/>
            <p:nvPr/>
          </p:nvSpPr>
          <p:spPr>
            <a:xfrm>
              <a:off x="5280660" y="3538153"/>
              <a:ext cx="0" cy="411480"/>
            </a:xfrm>
            <a:prstGeom prst="line">
              <a:avLst/>
            </a:prstGeom>
            <a:noFill/>
            <a:ln w="17780">
              <a:solidFill>
                <a:srgbClr val="8F55E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" name="Text 1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U-Net Architecture We Will Build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</a:t>
            </a:r>
            <a:r>
              <a:rPr lang="en-US" sz="1250" dirty="0">
                <a:solidFill>
                  <a:srgbClr val="7E7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(3, 128, 128)</a:t>
            </a:r>
            <a:r>
              <a:rPr lang="en-US" sz="12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 →   4 encoder levels  →  bottleneck  →  4 decoder levels  →   </a:t>
            </a:r>
            <a:r>
              <a:rPr lang="en-US" sz="1250" b="1" dirty="0">
                <a:solidFill>
                  <a:srgbClr val="7BB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</a:t>
            </a:r>
            <a:r>
              <a:rPr lang="en-US" sz="1250" dirty="0">
                <a:solidFill>
                  <a:srgbClr val="7E7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(1, 128, 128)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457200" cy="1828800"/>
          </a:xfrm>
          <a:prstGeom prst="rect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5720" y="16002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" y="3721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3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60120" y="1874520"/>
            <a:ext cx="841248" cy="1783080"/>
          </a:xfrm>
          <a:prstGeom prst="roundRect">
            <a:avLst>
              <a:gd name="adj" fmla="val 5435"/>
            </a:avLst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60120" y="19110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56489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7843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7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128²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48840" y="2441448"/>
            <a:ext cx="841248" cy="1417320"/>
          </a:xfrm>
          <a:prstGeom prst="roundRect">
            <a:avLst>
              <a:gd name="adj" fmla="val 5435"/>
            </a:avLst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2148840" y="24780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29489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31683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7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64²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flipV="1">
            <a:off x="2990088" y="3316820"/>
            <a:ext cx="374904" cy="13716"/>
          </a:xfrm>
          <a:prstGeom prst="line">
            <a:avLst/>
          </a:prstGeom>
          <a:noFill/>
          <a:ln w="20320">
            <a:solidFill>
              <a:srgbClr val="6B36C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337560" y="3008376"/>
            <a:ext cx="841248" cy="1097280"/>
          </a:xfrm>
          <a:prstGeom prst="roundRect">
            <a:avLst>
              <a:gd name="adj" fmla="val 5435"/>
            </a:avLst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337560" y="30449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355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5753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7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32²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26280" y="3575304"/>
            <a:ext cx="841248" cy="822960"/>
          </a:xfrm>
          <a:prstGeom prst="roundRect">
            <a:avLst>
              <a:gd name="adj" fmla="val 5556"/>
            </a:avLst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526280" y="36118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378561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 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40050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7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67528" y="4306824"/>
            <a:ext cx="164592" cy="64008"/>
          </a:xfrm>
          <a:prstGeom prst="line">
            <a:avLst/>
          </a:prstGeom>
          <a:noFill/>
          <a:ln w="20320">
            <a:solidFill>
              <a:srgbClr val="C77F2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704088" y="2766060"/>
            <a:ext cx="256032" cy="0"/>
          </a:xfrm>
          <a:prstGeom prst="line">
            <a:avLst/>
          </a:prstGeom>
          <a:noFill/>
          <a:ln w="2032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5532120" y="4279392"/>
            <a:ext cx="978408" cy="658368"/>
          </a:xfrm>
          <a:prstGeom prst="roundRect">
            <a:avLst>
              <a:gd name="adj" fmla="val 6944"/>
            </a:avLst>
          </a:prstGeom>
          <a:solidFill>
            <a:srgbClr val="F0A757"/>
          </a:solidFill>
          <a:ln w="19050">
            <a:solidFill>
              <a:srgbClr val="C77F2E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5440680" y="4023360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bottleneck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32120" y="438912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 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4645152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8²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flipV="1">
            <a:off x="6510528" y="4306824"/>
            <a:ext cx="210312" cy="64008"/>
          </a:xfrm>
          <a:prstGeom prst="line">
            <a:avLst/>
          </a:prstGeom>
          <a:noFill/>
          <a:ln w="2032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6720840" y="3575304"/>
            <a:ext cx="841248" cy="822960"/>
          </a:xfrm>
          <a:prstGeom prst="roundRect">
            <a:avLst>
              <a:gd name="adj" fmla="val 5556"/>
            </a:avLst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720840" y="36118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378561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 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40050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7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16²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 flipV="1">
            <a:off x="7562088" y="3841216"/>
            <a:ext cx="347472" cy="9145"/>
          </a:xfrm>
          <a:prstGeom prst="line">
            <a:avLst/>
          </a:prstGeom>
          <a:noFill/>
          <a:ln w="2032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7909560" y="3008376"/>
            <a:ext cx="841248" cy="1097280"/>
          </a:xfrm>
          <a:prstGeom prst="roundRect">
            <a:avLst>
              <a:gd name="adj" fmla="val 5435"/>
            </a:avLst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7909560" y="30449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09560" y="3355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09560" y="35753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7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32²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098280" y="2441448"/>
            <a:ext cx="841248" cy="1417320"/>
          </a:xfrm>
          <a:prstGeom prst="roundRect">
            <a:avLst>
              <a:gd name="adj" fmla="val 5435"/>
            </a:avLst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9098280" y="24780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98280" y="29489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ch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098280" y="31683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7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64²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287000" y="1874520"/>
            <a:ext cx="841248" cy="1783080"/>
          </a:xfrm>
          <a:prstGeom prst="roundRect">
            <a:avLst>
              <a:gd name="adj" fmla="val 5435"/>
            </a:avLst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10287000" y="19110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287000" y="256489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2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ch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287000" y="27843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7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128²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1384280" y="1874520"/>
            <a:ext cx="457200" cy="182880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11155680" y="16002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47120" y="3721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B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7BB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128²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1041380" y="25760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1×1 conv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126877" y="154790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skip connections  (concatenate encoder features into the decoder)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48640" y="4965192"/>
            <a:ext cx="11091672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2" name="Shape 70"/>
          <p:cNvSpPr/>
          <p:nvPr/>
        </p:nvSpPr>
        <p:spPr>
          <a:xfrm>
            <a:off x="548640" y="5074920"/>
            <a:ext cx="3611880" cy="1051560"/>
          </a:xfrm>
          <a:prstGeom prst="rect">
            <a:avLst/>
          </a:prstGeom>
          <a:solidFill>
            <a:srgbClr val="E7DCFA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3" name="Shape 71"/>
          <p:cNvSpPr/>
          <p:nvPr/>
        </p:nvSpPr>
        <p:spPr>
          <a:xfrm>
            <a:off x="548640" y="5074920"/>
            <a:ext cx="64008" cy="105156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4" name="Text 72"/>
          <p:cNvSpPr/>
          <p:nvPr/>
        </p:nvSpPr>
        <p:spPr>
          <a:xfrm>
            <a:off x="749808" y="5166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DoubleConv block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49808" y="5563649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[ Conv 3×3 → BatchNorm → </a:t>
            </a:r>
            <a:r>
              <a:rPr lang="en-US" sz="950" dirty="0" err="1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r>
              <a:rPr lang="en-US" sz="9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]</a:t>
            </a:r>
          </a:p>
          <a:p>
            <a:endParaRPr lang="en-US" sz="1000" dirty="0"/>
          </a:p>
          <a:p>
            <a:r>
              <a:rPr lang="en-US" sz="1000" dirty="0" err="1"/>
              <a:t>BatchNormalization</a:t>
            </a:r>
            <a:r>
              <a:rPr lang="en-US" sz="1000" dirty="0"/>
              <a:t> forces inputs to layers to have a consistent, predictable distribution.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279392" y="5074920"/>
            <a:ext cx="3611880" cy="1051560"/>
          </a:xfrm>
          <a:prstGeom prst="rect">
            <a:avLst/>
          </a:prstGeom>
          <a:solidFill>
            <a:srgbClr val="FCEBD4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8" name="Shape 76"/>
          <p:cNvSpPr/>
          <p:nvPr/>
        </p:nvSpPr>
        <p:spPr>
          <a:xfrm>
            <a:off x="4279392" y="5074920"/>
            <a:ext cx="64008" cy="105156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9" name="Text 77"/>
          <p:cNvSpPr/>
          <p:nvPr/>
        </p:nvSpPr>
        <p:spPr>
          <a:xfrm>
            <a:off x="4480560" y="5166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Downsample (encoder)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4480560" y="5458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strided Conv 3×3 (stride 2) halves H×W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4480560" y="57515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learned downsampling, not MaxPool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010144" y="5074920"/>
            <a:ext cx="3611880" cy="1051560"/>
          </a:xfrm>
          <a:prstGeom prst="rect">
            <a:avLst/>
          </a:prstGeom>
          <a:solidFill>
            <a:srgbClr val="EDF8DA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3" name="Shape 81"/>
          <p:cNvSpPr/>
          <p:nvPr/>
        </p:nvSpPr>
        <p:spPr>
          <a:xfrm>
            <a:off x="8010144" y="5074920"/>
            <a:ext cx="64008" cy="105156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4" name="Text 82"/>
          <p:cNvSpPr/>
          <p:nvPr/>
        </p:nvSpPr>
        <p:spPr>
          <a:xfrm>
            <a:off x="8211312" y="5166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Upsample (decoder)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8211312" y="5458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bilinear ×2 → 1×1 conv halves channels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8211312" y="57515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concat skip → DoubleConv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48640" y="6236208"/>
            <a:ext cx="11091672" cy="384048"/>
          </a:xfrm>
          <a:prstGeom prst="roundRect">
            <a:avLst>
              <a:gd name="adj" fmla="val 19048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8" name="Text 86"/>
          <p:cNvSpPr/>
          <p:nvPr/>
        </p:nvSpPr>
        <p:spPr>
          <a:xfrm>
            <a:off x="548640" y="623620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Features per level: 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[64, 128, 256, 512] → 1024 (bottleneck)      </a:t>
            </a:r>
            <a:r>
              <a:rPr lang="en-US" sz="105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Loss: 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     </a:t>
            </a:r>
            <a:r>
              <a:rPr lang="en-US" sz="105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Optimizer: 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      </a:t>
            </a:r>
            <a:r>
              <a:rPr lang="en-US" sz="105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 head: 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1×1 conv, no activation</a:t>
            </a:r>
            <a:endParaRPr lang="en-US" sz="1050" dirty="0"/>
          </a:p>
        </p:txBody>
      </p:sp>
      <p:sp>
        <p:nvSpPr>
          <p:cNvPr id="89" name="Text 0">
            <a:extLst>
              <a:ext uri="{FF2B5EF4-FFF2-40B4-BE49-F238E27FC236}">
                <a16:creationId xmlns:a16="http://schemas.microsoft.com/office/drawing/2014/main" id="{048740D5-22DF-0327-5AD5-64CFE6162235}"/>
              </a:ext>
            </a:extLst>
          </p:cNvPr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115" name="Shape 15">
            <a:extLst>
              <a:ext uri="{FF2B5EF4-FFF2-40B4-BE49-F238E27FC236}">
                <a16:creationId xmlns:a16="http://schemas.microsoft.com/office/drawing/2014/main" id="{1A1E671C-2641-0865-E3EC-5E682F873C2C}"/>
              </a:ext>
            </a:extLst>
          </p:cNvPr>
          <p:cNvSpPr/>
          <p:nvPr/>
        </p:nvSpPr>
        <p:spPr>
          <a:xfrm flipV="1">
            <a:off x="1801367" y="3139707"/>
            <a:ext cx="356775" cy="8115"/>
          </a:xfrm>
          <a:prstGeom prst="line">
            <a:avLst/>
          </a:prstGeom>
          <a:noFill/>
          <a:ln w="20320">
            <a:solidFill>
              <a:srgbClr val="6B36C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6" name="Shape 15">
            <a:extLst>
              <a:ext uri="{FF2B5EF4-FFF2-40B4-BE49-F238E27FC236}">
                <a16:creationId xmlns:a16="http://schemas.microsoft.com/office/drawing/2014/main" id="{1C2527FB-4D03-8A30-8A02-77E20CA47735}"/>
              </a:ext>
            </a:extLst>
          </p:cNvPr>
          <p:cNvSpPr/>
          <p:nvPr/>
        </p:nvSpPr>
        <p:spPr>
          <a:xfrm>
            <a:off x="4172222" y="3823454"/>
            <a:ext cx="374904" cy="0"/>
          </a:xfrm>
          <a:prstGeom prst="line">
            <a:avLst/>
          </a:prstGeom>
          <a:noFill/>
          <a:ln w="20320">
            <a:solidFill>
              <a:srgbClr val="6B36C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7" name="Shape 36">
            <a:extLst>
              <a:ext uri="{FF2B5EF4-FFF2-40B4-BE49-F238E27FC236}">
                <a16:creationId xmlns:a16="http://schemas.microsoft.com/office/drawing/2014/main" id="{86E4EE5D-1739-FC4C-5EA3-0EE6D914D40B}"/>
              </a:ext>
            </a:extLst>
          </p:cNvPr>
          <p:cNvSpPr/>
          <p:nvPr/>
        </p:nvSpPr>
        <p:spPr>
          <a:xfrm flipV="1">
            <a:off x="8760692" y="3606439"/>
            <a:ext cx="347472" cy="9145"/>
          </a:xfrm>
          <a:prstGeom prst="line">
            <a:avLst/>
          </a:prstGeom>
          <a:noFill/>
          <a:ln w="2032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8" name="Shape 36">
            <a:extLst>
              <a:ext uri="{FF2B5EF4-FFF2-40B4-BE49-F238E27FC236}">
                <a16:creationId xmlns:a16="http://schemas.microsoft.com/office/drawing/2014/main" id="{5A87B951-E84F-08D2-8CAB-75ED41512472}"/>
              </a:ext>
            </a:extLst>
          </p:cNvPr>
          <p:cNvSpPr/>
          <p:nvPr/>
        </p:nvSpPr>
        <p:spPr>
          <a:xfrm flipV="1">
            <a:off x="9942820" y="3198664"/>
            <a:ext cx="347472" cy="9145"/>
          </a:xfrm>
          <a:prstGeom prst="line">
            <a:avLst/>
          </a:prstGeom>
          <a:noFill/>
          <a:ln w="2032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9" name="Shape 36">
            <a:extLst>
              <a:ext uri="{FF2B5EF4-FFF2-40B4-BE49-F238E27FC236}">
                <a16:creationId xmlns:a16="http://schemas.microsoft.com/office/drawing/2014/main" id="{0CFD91EF-E639-4B76-4A2D-72181DDC8617}"/>
              </a:ext>
            </a:extLst>
          </p:cNvPr>
          <p:cNvSpPr/>
          <p:nvPr/>
        </p:nvSpPr>
        <p:spPr>
          <a:xfrm flipV="1">
            <a:off x="11128248" y="2790888"/>
            <a:ext cx="278268" cy="9145"/>
          </a:xfrm>
          <a:prstGeom prst="line">
            <a:avLst/>
          </a:prstGeom>
          <a:noFill/>
          <a:ln w="2032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pic>
        <p:nvPicPr>
          <p:cNvPr id="939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 · FOUNDATIONS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WIDER TOOLBOX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85496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Few More Architectures Worth Knowing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U-Net is our tool, but the same building blocks power other useful designs. A quick tour so the landscape feels complete.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5661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38912" y="1965960"/>
            <a:ext cx="64008" cy="292608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612648" y="1965960"/>
            <a:ext cx="3502152" cy="566928"/>
          </a:xfrm>
          <a:prstGeom prst="rect">
            <a:avLst/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77240" y="19659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Autoencoders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26974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Squeeze data into a compact code, then rebuild it. Used for compression, denoising, and anomaly detection.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178808"/>
            <a:ext cx="3108960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 encoder–decoder with no skip connections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1965960"/>
            <a:ext cx="35661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287952" y="1965960"/>
            <a:ext cx="64008" cy="292608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361688" y="1965960"/>
            <a:ext cx="3502152" cy="566928"/>
          </a:xfrm>
          <a:prstGeom prst="rect">
            <a:avLst/>
          </a:prstGeom>
          <a:solidFill>
            <a:srgbClr val="FCEBD4"/>
          </a:solidFill>
          <a:ln w="12700">
            <a:solidFill>
              <a:srgbClr val="FCEB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526280" y="19659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Sequence models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26280" y="26974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RNNs and Transformers handle ordered data — time series, text, signals — where what came before matters.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4178808"/>
            <a:ext cx="3108960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52628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engine behind modern language models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1965960"/>
            <a:ext cx="35661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8036992" y="1965960"/>
            <a:ext cx="64008" cy="292608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8110728" y="1965960"/>
            <a:ext cx="3502152" cy="566928"/>
          </a:xfrm>
          <a:prstGeom prst="rect">
            <a:avLst/>
          </a:prstGeom>
          <a:solidFill>
            <a:srgbClr val="EDF8DA"/>
          </a:solidFill>
          <a:ln w="12700">
            <a:solidFill>
              <a:srgbClr val="EDF8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8275320" y="19659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Physics-informed NNs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75320" y="26974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Bake physical laws into the loss so predictions respect known equations, even with little data.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75320" y="4178808"/>
            <a:ext cx="3108960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827532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blends data with first-principles physics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Notice the pattern:  </a:t>
            </a: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neurons, layers, activations, and training are shared by all of them. Learn the foundations once and every architecture becomes a variation on the same theme.</a:t>
            </a:r>
            <a:endParaRPr lang="en-US" sz="1300" dirty="0"/>
          </a:p>
        </p:txBody>
      </p:sp>
      <p:pic>
        <p:nvPicPr>
          <p:cNvPr id="940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F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457200"/>
            <a:ext cx="484632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0" b="1" dirty="0">
                <a:solidFill>
                  <a:srgbClr val="3E1D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822960" y="2468880"/>
            <a:ext cx="82296" cy="219456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109728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8346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Surrogate Modeling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4526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Now we have the tools. What is one of the applications in engineering  ?</a:t>
            </a:r>
          </a:p>
          <a:p>
            <a:pPr marL="0" indent="0">
              <a:buNone/>
            </a:pPr>
            <a:r>
              <a:rPr lang="en-US" sz="1500" b="1" i="1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replacing a slow, expensive simulation with a fast learned approximation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2  ·  38 / 55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2 · SURROGATE MODELING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42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IDEA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" y="8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Is a Surrogate Model?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surrogate (or "emulator") is a fast model that imitates the input-output behavior of a slow, expensive process.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11091672" cy="1417320"/>
          </a:xfrm>
          <a:prstGeom prst="rect">
            <a:avLst/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777240" y="21214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real process (ground truth)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5146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(geometry, conditions)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852928"/>
            <a:ext cx="777240" cy="0"/>
          </a:xfrm>
          <a:prstGeom prst="line">
            <a:avLst/>
          </a:prstGeom>
          <a:noFill/>
          <a:ln w="2794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297680" y="246888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29768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Expensive simulation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(CFD, …)  —  hours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2852928"/>
            <a:ext cx="777240" cy="0"/>
          </a:xfrm>
          <a:prstGeom prst="line">
            <a:avLst/>
          </a:prstGeom>
          <a:noFill/>
          <a:ln w="27940">
            <a:solidFill>
              <a:srgbClr val="7E708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8503920" y="25146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CEBD4"/>
          </a:solidFill>
          <a:ln w="12700">
            <a:solidFill>
              <a:srgbClr val="FCEB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8503920" y="2514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(fields, quantities)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1109167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64008" cy="141732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77240" y="3813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surrogate (learned shortcut)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2062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Same inputs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4544568"/>
            <a:ext cx="777240" cy="0"/>
          </a:xfrm>
          <a:prstGeom prst="line">
            <a:avLst/>
          </a:prstGeom>
          <a:noFill/>
          <a:ln w="2794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297680" y="416052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297680" y="4160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Trained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(U-Net)  —  milliseconds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4544568"/>
            <a:ext cx="777240" cy="0"/>
          </a:xfrm>
          <a:prstGeom prst="line">
            <a:avLst/>
          </a:prstGeom>
          <a:noFill/>
          <a:ln w="27940">
            <a:solidFill>
              <a:srgbClr val="7BB834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8503920" y="42062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DF8DA"/>
          </a:solidFill>
          <a:ln w="12700">
            <a:solidFill>
              <a:srgbClr val="EDF8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850392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Approximate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same outputs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97880" y="3429000"/>
            <a:ext cx="0" cy="274320"/>
          </a:xfrm>
          <a:prstGeom prst="line">
            <a:avLst/>
          </a:prstGeom>
          <a:noFill/>
          <a:ln w="17780">
            <a:solidFill>
              <a:srgbClr val="7E7088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603504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learns to mimic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Formally:  </a:t>
            </a: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 the true process is </a:t>
            </a:r>
            <a:r>
              <a:rPr lang="en-US" sz="1400" b="1" dirty="0">
                <a:solidFill>
                  <a:srgbClr val="8F5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f(x)</a:t>
            </a: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and f is expensive, we train a surrogate </a:t>
            </a:r>
            <a:r>
              <a:rPr lang="en-US" sz="1400" b="1" dirty="0">
                <a:solidFill>
                  <a:srgbClr val="8F5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g(x) ≈ f(x)</a:t>
            </a: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that is cheap to evaluate.</a:t>
            </a:r>
            <a:endParaRPr lang="en-US" sz="1400" dirty="0"/>
          </a:p>
        </p:txBody>
      </p:sp>
      <p:pic>
        <p:nvPicPr>
          <p:cNvPr id="942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2 · SURROGATE MODELING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43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Surrogate Models Are Useful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64008" cy="178308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822960" y="2240280"/>
            <a:ext cx="914400" cy="914400"/>
          </a:xfrm>
          <a:prstGeom prst="ellipse">
            <a:avLst/>
          </a:prstGeom>
          <a:solidFill>
            <a:srgbClr val="E7DCFA"/>
          </a:solidFill>
          <a:ln w="1905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2296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6596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965960" y="25420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Predictions in milliseconds instead of hours. Often a speed-up of thousands to millions of times.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5352" y="182880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6245352" y="1828800"/>
            <a:ext cx="64008" cy="178308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519672" y="2240280"/>
            <a:ext cx="914400" cy="914400"/>
          </a:xfrm>
          <a:prstGeom prst="ellipse">
            <a:avLst/>
          </a:prstGeom>
          <a:solidFill>
            <a:srgbClr val="FCEBD4"/>
          </a:solidFill>
          <a:ln w="1905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519672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∞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662672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Many evaluations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62672" y="25420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Once trained, run it as often as you like at almost no cost — ideal when you need thousands of runs.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04488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548640" y="3904488"/>
            <a:ext cx="64008" cy="178308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822960" y="4315968"/>
            <a:ext cx="914400" cy="914400"/>
          </a:xfrm>
          <a:prstGeom prst="ellipse">
            <a:avLst/>
          </a:prstGeom>
          <a:solidFill>
            <a:srgbClr val="E7DCFA"/>
          </a:solidFill>
          <a:ln w="1905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822960" y="43159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965960" y="4178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Optimization &amp; design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965960" y="4617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Cheap evaluations let you search large design spaces and optimize that were previously infeasible.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45352" y="3904488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6245352" y="3904488"/>
            <a:ext cx="64008" cy="178308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6519672" y="4315968"/>
            <a:ext cx="914400" cy="914400"/>
          </a:xfrm>
          <a:prstGeom prst="ellipse">
            <a:avLst/>
          </a:prstGeom>
          <a:solidFill>
            <a:srgbClr val="EDF8DA"/>
          </a:solidFill>
          <a:ln w="1905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6519672" y="43159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⟳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662672" y="4178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Real-time &amp; interactive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662672" y="4617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 enough for live design tools, control loops, and digital twins that respond instantly.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CEBD4"/>
          </a:solidFill>
          <a:ln w="12700">
            <a:solidFill>
              <a:srgbClr val="F0A7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F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trade-off: 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surrogate is an approximation. The skill is in building one accurate enough to trust — which is what the workflow is for.</a:t>
            </a:r>
            <a:endParaRPr lang="en-US" sz="1300" dirty="0"/>
          </a:p>
        </p:txBody>
      </p:sp>
      <p:pic>
        <p:nvPicPr>
          <p:cNvPr id="943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>
            <a:extLst>
              <a:ext uri="{FF2B5EF4-FFF2-40B4-BE49-F238E27FC236}">
                <a16:creationId xmlns:a16="http://schemas.microsoft.com/office/drawing/2014/main" id="{74BC428F-15AC-3D92-3E23-2D5371F71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90"/>
          <a:stretch>
            <a:fillRect/>
          </a:stretch>
        </p:blipFill>
        <p:spPr>
          <a:xfrm>
            <a:off x="1147113" y="1946063"/>
            <a:ext cx="9068718" cy="426271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2 · SURROGATE MODELING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44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MAP WE WILL FOLLOW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End-to-End Workflow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980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Seven stages take you from a problem to a deployed surrogate. The hands-on session walks the middle of this map in detail.</a:t>
            </a:r>
            <a:endParaRPr lang="en-US" sz="1300" dirty="0"/>
          </a:p>
        </p:txBody>
      </p:sp>
      <p:sp>
        <p:nvSpPr>
          <p:cNvPr id="96" name="Shape 50">
            <a:extLst>
              <a:ext uri="{FF2B5EF4-FFF2-40B4-BE49-F238E27FC236}">
                <a16:creationId xmlns:a16="http://schemas.microsoft.com/office/drawing/2014/main" id="{B7BC5A2F-0336-1307-B67A-B32A4534ED85}"/>
              </a:ext>
            </a:extLst>
          </p:cNvPr>
          <p:cNvSpPr/>
          <p:nvPr/>
        </p:nvSpPr>
        <p:spPr>
          <a:xfrm>
            <a:off x="1222248" y="2133600"/>
            <a:ext cx="76200" cy="1371600"/>
          </a:xfrm>
          <a:prstGeom prst="rect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BFE84BB4-32C1-ACF1-811C-FDC50F57D092}"/>
              </a:ext>
            </a:extLst>
          </p:cNvPr>
          <p:cNvSpPr/>
          <p:nvPr/>
        </p:nvSpPr>
        <p:spPr>
          <a:xfrm>
            <a:off x="1066800" y="1831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113" name="Shape 50">
            <a:extLst>
              <a:ext uri="{FF2B5EF4-FFF2-40B4-BE49-F238E27FC236}">
                <a16:creationId xmlns:a16="http://schemas.microsoft.com/office/drawing/2014/main" id="{FC596894-F3F3-6FC7-68AE-40147B2CC5A9}"/>
              </a:ext>
            </a:extLst>
          </p:cNvPr>
          <p:cNvSpPr/>
          <p:nvPr/>
        </p:nvSpPr>
        <p:spPr>
          <a:xfrm>
            <a:off x="2509520" y="2133600"/>
            <a:ext cx="76200" cy="1371600"/>
          </a:xfrm>
          <a:prstGeom prst="rect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4" name="Shape 50">
            <a:extLst>
              <a:ext uri="{FF2B5EF4-FFF2-40B4-BE49-F238E27FC236}">
                <a16:creationId xmlns:a16="http://schemas.microsoft.com/office/drawing/2014/main" id="{FA5E3602-19F9-5FBD-B73D-2A8B27B66B7B}"/>
              </a:ext>
            </a:extLst>
          </p:cNvPr>
          <p:cNvSpPr/>
          <p:nvPr/>
        </p:nvSpPr>
        <p:spPr>
          <a:xfrm>
            <a:off x="3836924" y="2133600"/>
            <a:ext cx="76200" cy="1371600"/>
          </a:xfrm>
          <a:prstGeom prst="rect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5" name="Shape 50">
            <a:extLst>
              <a:ext uri="{FF2B5EF4-FFF2-40B4-BE49-F238E27FC236}">
                <a16:creationId xmlns:a16="http://schemas.microsoft.com/office/drawing/2014/main" id="{7D793335-90D3-4F41-0082-62C76F890798}"/>
              </a:ext>
            </a:extLst>
          </p:cNvPr>
          <p:cNvSpPr/>
          <p:nvPr/>
        </p:nvSpPr>
        <p:spPr>
          <a:xfrm>
            <a:off x="5333492" y="2133600"/>
            <a:ext cx="76200" cy="1371600"/>
          </a:xfrm>
          <a:prstGeom prst="rect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6" name="Shape 50">
            <a:extLst>
              <a:ext uri="{FF2B5EF4-FFF2-40B4-BE49-F238E27FC236}">
                <a16:creationId xmlns:a16="http://schemas.microsoft.com/office/drawing/2014/main" id="{A2DD8D76-7103-5AC3-F714-8DDE3DFB5C1B}"/>
              </a:ext>
            </a:extLst>
          </p:cNvPr>
          <p:cNvSpPr/>
          <p:nvPr/>
        </p:nvSpPr>
        <p:spPr>
          <a:xfrm>
            <a:off x="6603492" y="2133600"/>
            <a:ext cx="76200" cy="1371600"/>
          </a:xfrm>
          <a:prstGeom prst="rect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7" name="Shape 50">
            <a:extLst>
              <a:ext uri="{FF2B5EF4-FFF2-40B4-BE49-F238E27FC236}">
                <a16:creationId xmlns:a16="http://schemas.microsoft.com/office/drawing/2014/main" id="{4AB4A07E-4E54-3CC7-9059-F926370BE7AF}"/>
              </a:ext>
            </a:extLst>
          </p:cNvPr>
          <p:cNvSpPr/>
          <p:nvPr/>
        </p:nvSpPr>
        <p:spPr>
          <a:xfrm>
            <a:off x="7860792" y="2133600"/>
            <a:ext cx="76200" cy="1371600"/>
          </a:xfrm>
          <a:prstGeom prst="rect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8" name="Shape 50">
            <a:extLst>
              <a:ext uri="{FF2B5EF4-FFF2-40B4-BE49-F238E27FC236}">
                <a16:creationId xmlns:a16="http://schemas.microsoft.com/office/drawing/2014/main" id="{78309553-C5FE-9686-24E0-D602E54632CD}"/>
              </a:ext>
            </a:extLst>
          </p:cNvPr>
          <p:cNvSpPr/>
          <p:nvPr/>
        </p:nvSpPr>
        <p:spPr>
          <a:xfrm>
            <a:off x="9041892" y="2133600"/>
            <a:ext cx="76200" cy="1371600"/>
          </a:xfrm>
          <a:prstGeom prst="rect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944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2 · SURROGATE MODELING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GETTING THE DATA RIGHT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Best Practices at Each Stage  (1 of 2)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64008" cy="182880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Generation / Sampling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35000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Cover the full range of conditions you will face in practice.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Avoid narrow or biased sampling — the model can't predict regimes it never saw.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5352" y="178308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245352" y="1783080"/>
            <a:ext cx="64008" cy="182880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473952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Cleaning  (3.1)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235000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Remove corrupted, non-converged, or missing-value cases before anything else.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73952" y="295351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Garbage in, garbage out: bad training samples quietly poison the model.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64008" cy="182880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777240" y="4023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 Engineering  (3.3)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45312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Give the model informative inputs — encode known physics so it doesn't relearn it.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05663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Raw, uninformative inputs make learning far harder than it needs to be.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388620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6245352" y="3886200"/>
            <a:ext cx="64008" cy="182880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473952" y="4023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 / Val / Test Split  (3.4)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73952" y="445312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Each split should reflect the real-world distribution; split before any tuning.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73952" y="505663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Leakage: never let test data influence training or preprocessing choices.</a:t>
            </a:r>
            <a:endParaRPr lang="en-US" sz="1150" dirty="0"/>
          </a:p>
        </p:txBody>
      </p:sp>
      <p:pic>
        <p:nvPicPr>
          <p:cNvPr id="945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2 · SURROGATE MODELING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46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 &amp; JUDGING THE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Best Practices at Each Stage  (2 of 2)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64008" cy="1828800"/>
          </a:xfrm>
          <a:prstGeom prst="rect">
            <a:avLst/>
          </a:prstGeom>
          <a:solidFill>
            <a:srgbClr val="6B36C2"/>
          </a:solidFill>
          <a:ln w="12700">
            <a:solidFill>
              <a:srgbClr val="6B36C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Scaling / Normalization  (3.5)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35000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 scaling statistics (min/max, mean/std) from the training set only.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Using val/test stats leaks information and inflates your scores.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5352" y="178308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245352" y="1783080"/>
            <a:ext cx="64008" cy="182880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473952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 Training  (3.6)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235000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Watch training and validation loss together; save the best-validation checkpoint.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73952" y="295351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Overfitting: training loss keeps dropping while validation loss climbs.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64008" cy="1828800"/>
          </a:xfrm>
          <a:prstGeom prst="rect">
            <a:avLst/>
          </a:prstGeom>
          <a:solidFill>
            <a:srgbClr val="C77F2E"/>
          </a:solidFill>
          <a:ln w="12700">
            <a:solidFill>
              <a:srgbClr val="C77F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777240" y="4023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Hyperparameter Tuning  (3.7)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45312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Tune against validation only; change one thing at a time and log every run.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05663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Tuning on the test set turns it into another validation set — no honest final score.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388620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6245352" y="3886200"/>
            <a:ext cx="64008" cy="1828800"/>
          </a:xfrm>
          <a:prstGeom prst="rect">
            <a:avLst/>
          </a:prstGeom>
          <a:solidFill>
            <a:srgbClr val="7BB834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473952" y="4023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Evaluation  (3.8)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73952" y="445312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 numbers (RMSE, MAE, R²) and pictures — plot predictions vs. truth and error maps.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73952" y="505663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single good metric can hide large local errors; always look at the fields.</a:t>
            </a:r>
            <a:endParaRPr lang="en-US" sz="1150" dirty="0"/>
          </a:p>
        </p:txBody>
      </p:sp>
      <p:pic>
        <p:nvPicPr>
          <p:cNvPr id="946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2 · SURROGATE MODELING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47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 FROM OTHERS' MISTAKES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95097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Common Pitfalls to Avoid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64008" cy="18288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leakage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3500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information sneaks into training — through shared scaling stats, tuning, or duplicated samples. Result: great scores that collapse in the real world.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1089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Fix:  </a:t>
            </a:r>
            <a:r>
              <a:rPr lang="en-US" sz="11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Split first. Compute all statistics on the training set only.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5352" y="178308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6245352" y="1783080"/>
            <a:ext cx="64008" cy="18288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428232" y="1920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31152" y="19202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Unrepresentative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23500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 data covers a narrower range than the deployment conditions, so the model extrapolates badly.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73952" y="31089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Fix:  </a:t>
            </a:r>
            <a:r>
              <a:rPr lang="en-US" sz="11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Sample to cover the full operating envelope you care about.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64008" cy="18288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731520" y="4023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023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45312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model memorizes training cases instead of learning the pattern; validation error rises while training error falls.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212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Fix:  </a:t>
            </a:r>
            <a:r>
              <a:rPr lang="en-US" sz="11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Monitor validation loss, use regularization, keep the best checkpoint.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45352" y="388620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6245352" y="3886200"/>
            <a:ext cx="64008" cy="18288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428232" y="4023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31152" y="4023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18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Trusting one number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73952" y="445312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good average metric can hide large, localized errors exactly where they matter most.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73952" y="5212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Fix:  </a:t>
            </a:r>
            <a:r>
              <a:rPr lang="en-US" sz="1100" i="1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Always visualize predictions, ground truth, and error maps.</a:t>
            </a:r>
            <a:endParaRPr lang="en-US" sz="1100" dirty="0"/>
          </a:p>
        </p:txBody>
      </p:sp>
      <p:pic>
        <p:nvPicPr>
          <p:cNvPr id="947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F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457200"/>
            <a:ext cx="484632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0" b="1" dirty="0">
                <a:solidFill>
                  <a:srgbClr val="3E1D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822960" y="2468880"/>
            <a:ext cx="82296" cy="219456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109728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8346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Hands-On: Building the Surrogate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4526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 follow the workflow end to end.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3  ·  47 / 55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13447-20DC-221D-A409-11125B603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234D39-9176-5589-E2FD-9475A5489BFC}"/>
              </a:ext>
            </a:extLst>
          </p:cNvPr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3 · HANDS-ON</a:t>
            </a:r>
            <a:endParaRPr lang="en-US" sz="1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CCEAFA0-52BC-F9E6-2D72-32EB08C24B5D}"/>
              </a:ext>
            </a:extLst>
          </p:cNvPr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800554-CE2D-3C86-3D4D-D9F576831A5E}"/>
              </a:ext>
            </a:extLst>
          </p:cNvPr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24CFDE-9AA5-7ABD-71AE-756DFBBEBDAB}"/>
              </a:ext>
            </a:extLst>
          </p:cNvPr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49 / 52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70E638-D45B-B409-8DC7-6CBB32AAF1E8}"/>
              </a:ext>
            </a:extLst>
          </p:cNvPr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HANDS-ON  ·  STAGE 1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5E531AE-A288-3305-2EFB-12205B8B1B3A}"/>
              </a:ext>
            </a:extLst>
          </p:cNvPr>
          <p:cNvSpPr/>
          <p:nvPr/>
        </p:nvSpPr>
        <p:spPr>
          <a:xfrm>
            <a:off x="548640" y="8183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Problem Definition: What Are We Predicting?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FAD38F-2C5A-1648-13F4-F6FD1CDCD2D6}"/>
              </a:ext>
            </a:extLst>
          </p:cNvPr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goal: approximate a slow CFD simulation of natural ventilation with a fast neural network. Given a building's geometry and the incoming wind speed, predict the airflow velocity at every point in the domain.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3A0F94E-0A13-1733-F8E3-17308D09CEDC}"/>
              </a:ext>
            </a:extLst>
          </p:cNvPr>
          <p:cNvSpPr/>
          <p:nvPr/>
        </p:nvSpPr>
        <p:spPr>
          <a:xfrm>
            <a:off x="4892040" y="3594560"/>
            <a:ext cx="640080" cy="0"/>
          </a:xfrm>
          <a:prstGeom prst="line">
            <a:avLst/>
          </a:prstGeom>
          <a:noFill/>
          <a:ln w="3175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9E5347D-3F54-9E5D-F7D4-3F63A4AC6454}"/>
              </a:ext>
            </a:extLst>
          </p:cNvPr>
          <p:cNvSpPr/>
          <p:nvPr/>
        </p:nvSpPr>
        <p:spPr>
          <a:xfrm>
            <a:off x="5577840" y="2864357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EF37DC0-3DA1-5E23-AC9B-D3105794A09E}"/>
              </a:ext>
            </a:extLst>
          </p:cNvPr>
          <p:cNvSpPr/>
          <p:nvPr/>
        </p:nvSpPr>
        <p:spPr>
          <a:xfrm>
            <a:off x="5532120" y="340385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Surrogate 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625BBA7-3293-CB7B-8203-96C70FE59A37}"/>
              </a:ext>
            </a:extLst>
          </p:cNvPr>
          <p:cNvSpPr/>
          <p:nvPr/>
        </p:nvSpPr>
        <p:spPr>
          <a:xfrm>
            <a:off x="7955280" y="3561176"/>
            <a:ext cx="640080" cy="0"/>
          </a:xfrm>
          <a:prstGeom prst="line">
            <a:avLst/>
          </a:prstGeom>
          <a:noFill/>
          <a:ln w="31750">
            <a:solidFill>
              <a:srgbClr val="4F2683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D2505BD-D4F6-0062-4867-75DA3D41EE86}"/>
              </a:ext>
            </a:extLst>
          </p:cNvPr>
          <p:cNvSpPr/>
          <p:nvPr/>
        </p:nvSpPr>
        <p:spPr>
          <a:xfrm>
            <a:off x="8846202" y="4910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Velocity field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(m/s at every pixel)</a:t>
            </a:r>
            <a:endParaRPr lang="en-US" sz="14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D91BBF4-41A7-13AC-4D76-94CE644F093B}"/>
              </a:ext>
            </a:extLst>
          </p:cNvPr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DF8DA"/>
          </a:solidFill>
          <a:ln w="12700">
            <a:solidFill>
              <a:srgbClr val="7BB83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930DF22-E5F8-715D-B0D6-FDD8432BA430}"/>
              </a:ext>
            </a:extLst>
          </p:cNvPr>
          <p:cNvSpPr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payoff:  </a:t>
            </a:r>
            <a:r>
              <a:rPr lang="en-US" sz="13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CFD solver takes ~hours per case. Once trained, the U-Net predicts the same velocity field in milliseconds — fast enough to explore many building designs interactively.</a:t>
            </a:r>
            <a:endParaRPr lang="en-US" sz="13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CFCF8B6-45A4-7583-F3D7-CF8432769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47" y="2441447"/>
            <a:ext cx="4209273" cy="23088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FF6956-69F5-BE95-2518-D47CD263F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461809"/>
            <a:ext cx="2451581" cy="2658828"/>
          </a:xfrm>
          <a:prstGeom prst="rect">
            <a:avLst/>
          </a:prstGeom>
        </p:spPr>
      </p:pic>
      <p:pic>
        <p:nvPicPr>
          <p:cNvPr id="949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378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3 · HANDS-ON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ML Fundamentals to Surrogate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 / 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7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HANDS-ON  ·  STAGE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503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Dataset: Where the Data Comes From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E70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surrogate is only as good as its data. Ours comes from real CFD simulations spanning a range of geometries and wind speeds — not a single simplified case.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5486400" cy="3291840"/>
          </a:xfrm>
          <a:prstGeom prst="rect">
            <a:avLst/>
          </a:prstGeom>
          <a:solidFill>
            <a:srgbClr val="F4F0F9"/>
          </a:solidFill>
          <a:ln w="9525">
            <a:solidFill>
              <a:srgbClr val="D9D2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one case is made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395728"/>
            <a:ext cx="420624" cy="420624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468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building geometry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a 2-D layout of solid walls and open space under different opening ratios and locations, wind direction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78992" y="2935224"/>
            <a:ext cx="0" cy="237744"/>
          </a:xfrm>
          <a:prstGeom prst="line">
            <a:avLst/>
          </a:prstGeom>
          <a:noFill/>
          <a:ln w="190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868680" y="3054096"/>
            <a:ext cx="420624" cy="420624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6868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1272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 inlet wind speed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the incoming flow condition for that run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78992" y="3474720"/>
            <a:ext cx="0" cy="237744"/>
          </a:xfrm>
          <a:prstGeom prst="line">
            <a:avLst/>
          </a:prstGeom>
          <a:noFill/>
          <a:ln w="190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868680" y="3712464"/>
            <a:ext cx="420624" cy="420624"/>
          </a:xfrm>
          <a:prstGeom prst="ellipse">
            <a:avLst/>
          </a:prstGeom>
          <a:solidFill>
            <a:srgbClr val="6B36C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868680" y="3712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7856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CFD solver (&gt;1 hr)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computes the airflow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78992" y="4133088"/>
            <a:ext cx="0" cy="237744"/>
          </a:xfrm>
          <a:prstGeom prst="line">
            <a:avLst/>
          </a:prstGeom>
          <a:noFill/>
          <a:ln w="19050">
            <a:solidFill>
              <a:srgbClr val="B8AE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868680" y="4370832"/>
            <a:ext cx="420624" cy="420624"/>
          </a:xfrm>
          <a:prstGeom prst="ellipse">
            <a:avLst/>
          </a:prstGeom>
          <a:solidFill>
            <a:srgbClr val="7BB83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86868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4439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velocity field  </a:t>
            </a:r>
            <a:r>
              <a:rPr lang="en-US" sz="115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the ground-truth answer we want to learn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1965960"/>
            <a:ext cx="53492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E0"/>
            </a:solidFill>
            <a:prstDash val="solid"/>
          </a:ln>
          <a:effectLst>
            <a:outerShdw blurRad="101600" dist="25400" dir="5400000" algn="bl" rotWithShape="0">
              <a:srgbClr val="1E0E33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6263640" y="1965960"/>
            <a:ext cx="64008" cy="329184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537960" y="21031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dataset at a glance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2496312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6537960" y="24963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92440" y="249631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complete, cleaned cases (zero degree wind direction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Only</a:t>
            </a:r>
          </a:p>
        </p:txBody>
      </p:sp>
      <p:sp>
        <p:nvSpPr>
          <p:cNvPr id="33" name="Shape 31"/>
          <p:cNvSpPr/>
          <p:nvPr/>
        </p:nvSpPr>
        <p:spPr>
          <a:xfrm>
            <a:off x="6537960" y="3017520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6537960" y="301752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2–10 m/s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92440" y="301752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inlet wind speeds — a full range of conditions, not one fixed speed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37960" y="3538728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6537960" y="353872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128 × 128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92440" y="353872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C1A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grid resolution of every field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3949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914400" y="53949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varied conditions matter:  </a:t>
            </a: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model trained on only one wind speed or one geometry would fail on anything else. Covering the full 2–10 m/s range and many shapes is what lets the surrogate generalize to new designs.</a:t>
            </a:r>
            <a:endParaRPr lang="en-US" sz="1300" dirty="0"/>
          </a:p>
        </p:txBody>
      </p:sp>
      <p:pic>
        <p:nvPicPr>
          <p:cNvPr id="950" name="CWE-8 Header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0245" y="315849"/>
            <a:ext cx="2078355" cy="41567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F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CONCEPT TO 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82296" cy="182880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1097280" y="2148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Now we build it.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9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 will follow the exact same workflow, step by step , to build a surrogate that approximates CFD simulations of natural ventilation around buildings. From here on, we move into the notebooks and run real code together.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461772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7DCFA"/>
          </a:solidFill>
          <a:ln w="12700">
            <a:solidFill>
              <a:srgbClr val="E7DC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097280" y="4617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6B3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Preprocessing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461772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DF8DA"/>
          </a:solidFill>
          <a:ln w="12700">
            <a:solidFill>
              <a:srgbClr val="EDF8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309360" y="4617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B8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U-Net Model Training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5001768"/>
            <a:ext cx="228600" cy="0"/>
          </a:xfrm>
          <a:prstGeom prst="line">
            <a:avLst/>
          </a:prstGeom>
          <a:noFill/>
          <a:ln w="31750">
            <a:solidFill>
              <a:srgbClr val="8F55E0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AE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Everything you just learned — convolutions, U-Net, the workflow, the best practices — is about to become a working tool.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F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8F5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LET'S BUILD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82296" cy="914400"/>
          </a:xfrm>
          <a:prstGeom prst="rect">
            <a:avLst/>
          </a:prstGeom>
          <a:solidFill>
            <a:srgbClr val="8F55E0"/>
          </a:solidFill>
          <a:ln w="1270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 the notebooks.</a:t>
            </a:r>
            <a:endParaRPr lang="en-US" sz="4000" dirty="0"/>
          </a:p>
        </p:txBody>
      </p:sp>
      <p:sp>
        <p:nvSpPr>
          <p:cNvPr id="21" name="Shape 19"/>
          <p:cNvSpPr/>
          <p:nvPr/>
        </p:nvSpPr>
        <p:spPr>
          <a:xfrm>
            <a:off x="1097280" y="5897880"/>
            <a:ext cx="4114800" cy="0"/>
          </a:xfrm>
          <a:prstGeom prst="line">
            <a:avLst/>
          </a:prstGeom>
          <a:noFill/>
          <a:ln w="19050">
            <a:solidFill>
              <a:srgbClr val="8F5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7072</Words>
  <Application>Microsoft Office PowerPoint</Application>
  <PresentationFormat>Widescreen</PresentationFormat>
  <Paragraphs>1045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Consolas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Machine Learning Fundamentals to Surrogate Modeling</dc:title>
  <dc:subject>PptxGenJS Presentation</dc:subject>
  <dc:creator>Dagimawi D. Eneyew (PhD)</dc:creator>
  <cp:lastModifiedBy>Dagimawi Demissie Eneyew</cp:lastModifiedBy>
  <cp:revision>202</cp:revision>
  <dcterms:created xsi:type="dcterms:W3CDTF">2026-06-04T10:58:28Z</dcterms:created>
  <dcterms:modified xsi:type="dcterms:W3CDTF">2026-06-05T16:16:14Z</dcterms:modified>
</cp:coreProperties>
</file>